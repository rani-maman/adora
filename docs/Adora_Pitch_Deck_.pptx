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A3E"/>
        </a:solidFill>
        <a:effectLst/>
      </p:bgPr>
    </p:bg>
    <p:spTree>
      <p:nvGrpSpPr>
        <p:cNvPr id="1" name=""/>
        <p:cNvGrpSpPr/>
        <p:nvPr/>
      </p:nvGrpSpPr>
      <p:grpSpPr/>
      <p:sp>
        <p:nvSpPr>
          <p:cNvPr id="2" name="TextBox 1"/>
          <p:cNvSpPr txBox="1"/>
          <p:nvPr/>
        </p:nvSpPr>
        <p:spPr>
          <a:xfrm>
            <a:off x="914400" y="1874519"/>
            <a:ext cx="7315200" cy="274320"/>
          </a:xfrm>
          <a:prstGeom prst="rect">
            <a:avLst/>
          </a:prstGeom>
          <a:noFill/>
        </p:spPr>
        <p:txBody>
          <a:bodyPr wrap="square" lIns="0" rIns="0" tIns="0" bIns="0">
            <a:spAutoFit/>
          </a:bodyPr>
          <a:lstStyle/>
          <a:p>
            <a:pPr algn="l">
              <a:lnSpc>
                <a:spcPct val="100000"/>
              </a:lnSpc>
              <a:spcAft>
                <a:spcPts val="600"/>
              </a:spcAft>
            </a:pPr>
            <a:r>
              <a:rPr sz="1050" b="1" i="0">
                <a:solidFill>
                  <a:srgbClr val="4FC3E8"/>
                </a:solidFill>
                <a:latin typeface="Consolas"/>
              </a:rPr>
              <a:t>PROJECT SHOW 2026</a:t>
            </a:r>
          </a:p>
        </p:txBody>
      </p:sp>
      <p:sp>
        <p:nvSpPr>
          <p:cNvPr id="3" name="TextBox 2"/>
          <p:cNvSpPr txBox="1"/>
          <p:nvPr/>
        </p:nvSpPr>
        <p:spPr>
          <a:xfrm>
            <a:off x="914400" y="2148840"/>
            <a:ext cx="7772400" cy="1188720"/>
          </a:xfrm>
          <a:prstGeom prst="rect">
            <a:avLst/>
          </a:prstGeom>
          <a:noFill/>
        </p:spPr>
        <p:txBody>
          <a:bodyPr wrap="square" lIns="0" rIns="0" tIns="0" bIns="0">
            <a:spAutoFit/>
          </a:bodyPr>
          <a:lstStyle/>
          <a:p>
            <a:pPr algn="l">
              <a:lnSpc>
                <a:spcPct val="100000"/>
              </a:lnSpc>
              <a:spcAft>
                <a:spcPts val="600"/>
              </a:spcAft>
            </a:pPr>
            <a:r>
              <a:rPr sz="6000" b="1" i="0">
                <a:solidFill>
                  <a:srgbClr val="FFFFFF"/>
                </a:solidFill>
                <a:latin typeface="Georgia"/>
              </a:rPr>
              <a:t>Adora</a:t>
            </a:r>
          </a:p>
        </p:txBody>
      </p:sp>
      <p:sp>
        <p:nvSpPr>
          <p:cNvPr id="4" name="TextBox 3"/>
          <p:cNvSpPr txBox="1"/>
          <p:nvPr/>
        </p:nvSpPr>
        <p:spPr>
          <a:xfrm>
            <a:off x="914400" y="3429000"/>
            <a:ext cx="7863840" cy="822960"/>
          </a:xfrm>
          <a:prstGeom prst="rect">
            <a:avLst/>
          </a:prstGeom>
          <a:noFill/>
        </p:spPr>
        <p:txBody>
          <a:bodyPr wrap="square" lIns="0" rIns="0" tIns="0" bIns="0">
            <a:spAutoFit/>
          </a:bodyPr>
          <a:lstStyle/>
          <a:p>
            <a:pPr algn="l">
              <a:lnSpc>
                <a:spcPct val="115000"/>
              </a:lnSpc>
              <a:spcAft>
                <a:spcPts val="600"/>
              </a:spcAft>
            </a:pPr>
            <a:r>
              <a:rPr sz="1500" b="0" i="0">
                <a:solidFill>
                  <a:srgbClr val="C5D3DD"/>
                </a:solidFill>
                <a:latin typeface="Georgia"/>
              </a:rPr>
              <a:t>Catching dropshipping storefronts where they buy their customers: in the ads themselves, before the shop has a reputation to check.</a:t>
            </a:r>
          </a:p>
        </p:txBody>
      </p:sp>
      <p:sp>
        <p:nvSpPr>
          <p:cNvPr id="5" name="Rectangle 4"/>
          <p:cNvSpPr/>
          <p:nvPr/>
        </p:nvSpPr>
        <p:spPr>
          <a:xfrm>
            <a:off x="914400" y="4526280"/>
            <a:ext cx="914400" cy="27940"/>
          </a:xfrm>
          <a:prstGeom prst="rect">
            <a:avLst/>
          </a:prstGeom>
          <a:solidFill>
            <a:srgbClr val="4FC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800600"/>
            <a:ext cx="7315200" cy="320040"/>
          </a:xfrm>
          <a:prstGeom prst="rect">
            <a:avLst/>
          </a:prstGeom>
          <a:noFill/>
        </p:spPr>
        <p:txBody>
          <a:bodyPr wrap="square" lIns="0" rIns="0" tIns="0" bIns="0">
            <a:spAutoFit/>
          </a:bodyPr>
          <a:lstStyle/>
          <a:p>
            <a:pPr algn="l">
              <a:lnSpc>
                <a:spcPct val="100000"/>
              </a:lnSpc>
              <a:spcAft>
                <a:spcPts val="600"/>
              </a:spcAft>
            </a:pPr>
            <a:r>
              <a:rPr sz="1300" b="1" i="0">
                <a:solidFill>
                  <a:srgbClr val="FFFFFF"/>
                </a:solidFill>
                <a:latin typeface="Calibri"/>
              </a:rPr>
              <a:t>Rani Maman</a:t>
            </a:r>
            <a:r>
              <a:rPr sz="1300" b="0" i="0">
                <a:solidFill>
                  <a:srgbClr val="8A9BA8"/>
                </a:solidFill>
                <a:latin typeface="Calibri"/>
              </a:rPr>
              <a:t>    ·    </a:t>
            </a:r>
            <a:r>
              <a:rPr sz="1300" b="1" i="0">
                <a:solidFill>
                  <a:srgbClr val="FFFFFF"/>
                </a:solidFill>
                <a:latin typeface="Calibri"/>
              </a:rPr>
              <a:t>Guy Yad Shalom</a:t>
            </a:r>
          </a:p>
        </p:txBody>
      </p:sp>
      <p:sp>
        <p:nvSpPr>
          <p:cNvPr id="7" name="TextBox 6"/>
          <p:cNvSpPr txBox="1"/>
          <p:nvPr/>
        </p:nvSpPr>
        <p:spPr>
          <a:xfrm>
            <a:off x="914400" y="5138928"/>
            <a:ext cx="7315200" cy="274320"/>
          </a:xfrm>
          <a:prstGeom prst="rect">
            <a:avLst/>
          </a:prstGeom>
          <a:noFill/>
        </p:spPr>
        <p:txBody>
          <a:bodyPr wrap="square" lIns="0" rIns="0" tIns="0" bIns="0">
            <a:spAutoFit/>
          </a:bodyPr>
          <a:lstStyle/>
          <a:p>
            <a:pPr algn="l">
              <a:lnSpc>
                <a:spcPct val="100000"/>
              </a:lnSpc>
              <a:spcAft>
                <a:spcPts val="600"/>
              </a:spcAft>
            </a:pPr>
            <a:r>
              <a:rPr sz="1100" b="0" i="0">
                <a:solidFill>
                  <a:srgbClr val="8A9BA8"/>
                </a:solidFill>
                <a:latin typeface="Calibri"/>
              </a:rPr>
              <a:t>Academic College of Tel Aviv-Yaffo    ·    September 2026</a:t>
            </a:r>
          </a:p>
        </p:txBody>
      </p:sp>
      <p:pic>
        <p:nvPicPr>
          <p:cNvPr id="8" name="Picture 7" descr="image1.png"/>
          <p:cNvPicPr>
            <a:picLocks noChangeAspect="1"/>
          </p:cNvPicPr>
          <p:nvPr/>
        </p:nvPicPr>
        <p:blipFill>
          <a:blip r:embed="rId2"/>
          <a:stretch>
            <a:fillRect/>
          </a:stretch>
        </p:blipFill>
        <p:spPr>
          <a:xfrm>
            <a:off x="8778240" y="2240280"/>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lIns="0" rIns="0" tIns="0" bIns="0">
            <a:spAutoFit/>
          </a:bodyPr>
          <a:lstStyle/>
          <a:p>
            <a:pPr algn="l">
              <a:lnSpc>
                <a:spcPct val="100000"/>
              </a:lnSpc>
              <a:spcAft>
                <a:spcPts val="600"/>
              </a:spcAft>
            </a:pPr>
            <a:r>
              <a:rPr sz="1050" b="1" i="0">
                <a:solidFill>
                  <a:srgbClr val="1B6E8F"/>
                </a:solidFill>
                <a:latin typeface="Consolas"/>
              </a:rPr>
              <a:t>THE PROBLEM</a:t>
            </a:r>
          </a:p>
        </p:txBody>
      </p:sp>
      <p:sp>
        <p:nvSpPr>
          <p:cNvPr id="3" name="TextBox 2"/>
          <p:cNvSpPr txBox="1"/>
          <p:nvPr/>
        </p:nvSpPr>
        <p:spPr>
          <a:xfrm>
            <a:off x="594360" y="658368"/>
            <a:ext cx="11000232" cy="594360"/>
          </a:xfrm>
          <a:prstGeom prst="rect">
            <a:avLst/>
          </a:prstGeom>
          <a:noFill/>
        </p:spPr>
        <p:txBody>
          <a:bodyPr wrap="square" lIns="0" rIns="0" tIns="0" bIns="0">
            <a:spAutoFit/>
          </a:bodyPr>
          <a:lstStyle/>
          <a:p>
            <a:pPr algn="l">
              <a:lnSpc>
                <a:spcPct val="100000"/>
              </a:lnSpc>
              <a:spcAft>
                <a:spcPts val="600"/>
              </a:spcAft>
            </a:pPr>
            <a:r>
              <a:rPr sz="3000" b="1" i="0">
                <a:solidFill>
                  <a:srgbClr val="13324B"/>
                </a:solidFill>
                <a:latin typeface="Georgia"/>
              </a:rPr>
              <a:t>Shops built to look Israeli, sourced from AliExpress</a:t>
            </a:r>
          </a:p>
        </p:txBody>
      </p:sp>
      <p:sp>
        <p:nvSpPr>
          <p:cNvPr id="4" name="Rectangle 3"/>
          <p:cNvSpPr/>
          <p:nvPr/>
        </p:nvSpPr>
        <p:spPr>
          <a:xfrm>
            <a:off x="594360" y="1207008"/>
            <a:ext cx="11000232" cy="10160"/>
          </a:xfrm>
          <a:prstGeom prst="rect">
            <a:avLst/>
          </a:prstGeom>
          <a:solidFill>
            <a:srgbClr val="DD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00200"/>
            <a:ext cx="5577840" cy="2926080"/>
          </a:xfrm>
          <a:prstGeom prst="rect">
            <a:avLst/>
          </a:prstGeom>
          <a:noFill/>
        </p:spPr>
        <p:txBody>
          <a:bodyPr wrap="square" lIns="0" rIns="0" tIns="0" bIns="0">
            <a:spAutoFit/>
          </a:bodyPr>
          <a:lstStyle/>
          <a:p>
            <a:pPr algn="l">
              <a:lnSpc>
                <a:spcPct val="115000"/>
              </a:lnSpc>
              <a:spcAft>
                <a:spcPts val="1400"/>
              </a:spcAft>
            </a:pPr>
            <a:r>
              <a:rPr sz="1250" b="1" i="0">
                <a:solidFill>
                  <a:srgbClr val="1B6E8F"/>
                </a:solidFill>
                <a:latin typeface="Calibri"/>
              </a:rPr>
              <a:t>•  </a:t>
            </a:r>
            <a:r>
              <a:rPr sz="1250" b="0" i="0">
                <a:solidFill>
                  <a:srgbClr val="33475B"/>
                </a:solidFill>
                <a:latin typeface="Calibri"/>
              </a:rPr>
              <a:t>Advertised on Facebook and Instagram with Hebrew copy, Israeli names, fake countdown timers and invented review counts.</a:t>
            </a:r>
          </a:p>
          <a:p>
            <a:pPr algn="l">
              <a:lnSpc>
                <a:spcPct val="115000"/>
              </a:lnSpc>
              <a:spcAft>
                <a:spcPts val="1400"/>
              </a:spcAft>
            </a:pPr>
            <a:r>
              <a:rPr sz="1250" b="1" i="0">
                <a:solidFill>
                  <a:srgbClr val="1B6E8F"/>
                </a:solidFill>
                <a:latin typeface="Calibri"/>
              </a:rPr>
              <a:t>•  </a:t>
            </a:r>
            <a:r>
              <a:rPr sz="1250" b="0" i="0">
                <a:solidFill>
                  <a:srgbClr val="33475B"/>
                </a:solidFill>
                <a:latin typeface="Calibri"/>
              </a:rPr>
              <a:t>No inventory. The order is bought from a marketplace and shipped direct, typically at three to five times the price.</a:t>
            </a:r>
          </a:p>
          <a:p>
            <a:pPr algn="l">
              <a:lnSpc>
                <a:spcPct val="115000"/>
              </a:lnSpc>
              <a:spcAft>
                <a:spcPts val="1400"/>
              </a:spcAft>
            </a:pPr>
            <a:r>
              <a:rPr sz="1250" b="1" i="0">
                <a:solidFill>
                  <a:srgbClr val="1B6E8F"/>
                </a:solidFill>
                <a:latin typeface="Calibri"/>
              </a:rPr>
              <a:t>•  </a:t>
            </a:r>
            <a:r>
              <a:rPr sz="1250" b="0" i="0">
                <a:solidFill>
                  <a:srgbClr val="33475B"/>
                </a:solidFill>
                <a:latin typeface="Calibri"/>
              </a:rPr>
              <a:t>Weeks of waiting, goods that do not match the listing, and no working route to a refund.</a:t>
            </a:r>
          </a:p>
        </p:txBody>
      </p:sp>
      <p:sp>
        <p:nvSpPr>
          <p:cNvPr id="6" name="Rounded Rectangle 5"/>
          <p:cNvSpPr/>
          <p:nvPr/>
        </p:nvSpPr>
        <p:spPr>
          <a:xfrm>
            <a:off x="6537960" y="1554480"/>
            <a:ext cx="5056632" cy="1417320"/>
          </a:xfrm>
          <a:prstGeom prst="roundRect">
            <a:avLst>
              <a:gd name="adj" fmla="val 6000"/>
            </a:avLst>
          </a:prstGeom>
          <a:solidFill>
            <a:srgbClr val="DCE9F1"/>
          </a:solidFill>
          <a:ln w="9525">
            <a:solidFill>
              <a:srgbClr val="DCE9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9128" y="1719072"/>
            <a:ext cx="4654296" cy="1088136"/>
          </a:xfrm>
          <a:prstGeom prst="rect">
            <a:avLst/>
          </a:prstGeom>
          <a:noFill/>
        </p:spPr>
        <p:txBody>
          <a:bodyPr wrap="square" lIns="0" rIns="0" tIns="0" bIns="0">
            <a:spAutoFit/>
          </a:bodyPr>
          <a:lstStyle/>
          <a:p>
            <a:pPr algn="l">
              <a:lnSpc>
                <a:spcPct val="105000"/>
              </a:lnSpc>
              <a:spcAft>
                <a:spcPts val="400"/>
              </a:spcAft>
            </a:pPr>
            <a:r>
              <a:rPr sz="1200" b="1" i="0">
                <a:solidFill>
                  <a:srgbClr val="13324B"/>
                </a:solidFill>
                <a:latin typeface="Calibri"/>
              </a:rPr>
              <a:t>Why blocklists fail</a:t>
            </a:r>
          </a:p>
          <a:p>
            <a:pPr algn="l">
              <a:lnSpc>
                <a:spcPct val="105000"/>
              </a:lnSpc>
              <a:spcAft>
                <a:spcPts val="400"/>
              </a:spcAft>
            </a:pPr>
            <a:r>
              <a:rPr sz="1100" b="0" i="0">
                <a:solidFill>
                  <a:srgbClr val="33475B"/>
                </a:solidFill>
                <a:latin typeface="Calibri"/>
              </a:rPr>
              <a:t>Domains churn faster than any list can be maintained. By the time a shop has complaints, it has been abandoned and replaced.</a:t>
            </a:r>
          </a:p>
        </p:txBody>
      </p:sp>
      <p:sp>
        <p:nvSpPr>
          <p:cNvPr id="8" name="TextBox 7"/>
          <p:cNvSpPr txBox="1"/>
          <p:nvPr/>
        </p:nvSpPr>
        <p:spPr>
          <a:xfrm>
            <a:off x="6537960" y="3337560"/>
            <a:ext cx="5056632" cy="274320"/>
          </a:xfrm>
          <a:prstGeom prst="rect">
            <a:avLst/>
          </a:prstGeom>
          <a:noFill/>
        </p:spPr>
        <p:txBody>
          <a:bodyPr wrap="square" lIns="0" rIns="0" tIns="0" bIns="0">
            <a:spAutoFit/>
          </a:bodyPr>
          <a:lstStyle/>
          <a:p>
            <a:pPr algn="l">
              <a:lnSpc>
                <a:spcPct val="100000"/>
              </a:lnSpc>
              <a:spcAft>
                <a:spcPts val="600"/>
              </a:spcAft>
            </a:pPr>
            <a:r>
              <a:rPr sz="1000" b="1" i="0">
                <a:solidFill>
                  <a:srgbClr val="1B6E8F"/>
                </a:solidFill>
                <a:latin typeface="Consolas"/>
              </a:rPr>
              <a:t>TARGET AUDIENCE</a:t>
            </a:r>
          </a:p>
        </p:txBody>
      </p:sp>
      <p:sp>
        <p:nvSpPr>
          <p:cNvPr id="9" name="TextBox 8"/>
          <p:cNvSpPr txBox="1"/>
          <p:nvPr/>
        </p:nvSpPr>
        <p:spPr>
          <a:xfrm>
            <a:off x="6537960" y="3639312"/>
            <a:ext cx="5056632" cy="2194560"/>
          </a:xfrm>
          <a:prstGeom prst="rect">
            <a:avLst/>
          </a:prstGeom>
          <a:noFill/>
        </p:spPr>
        <p:txBody>
          <a:bodyPr wrap="square" lIns="0" rIns="0" tIns="0" bIns="0">
            <a:spAutoFit/>
          </a:bodyPr>
          <a:lstStyle/>
          <a:p>
            <a:pPr algn="l">
              <a:lnSpc>
                <a:spcPct val="112000"/>
              </a:lnSpc>
              <a:spcAft>
                <a:spcPts val="1000"/>
              </a:spcAft>
            </a:pPr>
            <a:r>
              <a:rPr sz="1150" b="1" i="0">
                <a:solidFill>
                  <a:srgbClr val="33475B"/>
                </a:solidFill>
                <a:latin typeface="Calibri"/>
              </a:rPr>
              <a:t>Primary. </a:t>
            </a:r>
            <a:r>
              <a:rPr sz="1150" b="0" i="0">
                <a:solidFill>
                  <a:srgbClr val="33475B"/>
                </a:solidFill>
                <a:latin typeface="Calibri"/>
              </a:rPr>
              <a:t>Israeli shoppers who buy from stores found through social advertising. Mobile, impulse purchases of ₪50-₪300, little habit of checking a merchant.</a:t>
            </a:r>
          </a:p>
          <a:p>
            <a:pPr algn="l">
              <a:lnSpc>
                <a:spcPct val="112000"/>
              </a:lnSpc>
              <a:spcAft>
                <a:spcPts val="1000"/>
              </a:spcAft>
            </a:pPr>
            <a:r>
              <a:rPr sz="1150" b="1" i="0">
                <a:solidFill>
                  <a:srgbClr val="33475B"/>
                </a:solidFill>
                <a:latin typeface="Calibri"/>
              </a:rPr>
              <a:t>Secondary. </a:t>
            </a:r>
            <a:r>
              <a:rPr sz="1150" b="0" i="0">
                <a:solidFill>
                  <a:srgbClr val="33475B"/>
                </a:solidFill>
                <a:latin typeface="Calibri"/>
              </a:rPr>
              <a:t>Cautious shoppers who already suspect a store but have no fast way to confirm it.</a:t>
            </a:r>
          </a:p>
        </p:txBody>
      </p:sp>
      <p:sp>
        <p:nvSpPr>
          <p:cNvPr id="10" name="TextBox 9"/>
          <p:cNvSpPr txBox="1"/>
          <p:nvPr/>
        </p:nvSpPr>
        <p:spPr>
          <a:xfrm>
            <a:off x="11475720" y="6419088"/>
            <a:ext cx="411480" cy="274320"/>
          </a:xfrm>
          <a:prstGeom prst="rect">
            <a:avLst/>
          </a:prstGeom>
          <a:noFill/>
        </p:spPr>
        <p:txBody>
          <a:bodyPr wrap="square" lIns="0" rIns="0" tIns="0" bIns="0">
            <a:spAutoFit/>
          </a:bodyPr>
          <a:lstStyle/>
          <a:p>
            <a:pPr algn="r">
              <a:lnSpc>
                <a:spcPct val="100000"/>
              </a:lnSpc>
              <a:spcAft>
                <a:spcPts val="600"/>
              </a:spcAft>
            </a:pPr>
            <a:r>
              <a:rPr sz="900" b="0" i="0">
                <a:solidFill>
                  <a:srgbClr val="8A9BA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lIns="0" rIns="0" tIns="0" bIns="0">
            <a:spAutoFit/>
          </a:bodyPr>
          <a:lstStyle/>
          <a:p>
            <a:pPr algn="l">
              <a:lnSpc>
                <a:spcPct val="100000"/>
              </a:lnSpc>
              <a:spcAft>
                <a:spcPts val="600"/>
              </a:spcAft>
            </a:pPr>
            <a:r>
              <a:rPr sz="1050" b="1" i="0">
                <a:solidFill>
                  <a:srgbClr val="1B6E8F"/>
                </a:solidFill>
                <a:latin typeface="Consolas"/>
              </a:rPr>
              <a:t>VALIDATING THE NEED</a:t>
            </a:r>
          </a:p>
        </p:txBody>
      </p:sp>
      <p:sp>
        <p:nvSpPr>
          <p:cNvPr id="3" name="TextBox 2"/>
          <p:cNvSpPr txBox="1"/>
          <p:nvPr/>
        </p:nvSpPr>
        <p:spPr>
          <a:xfrm>
            <a:off x="594360" y="658368"/>
            <a:ext cx="11000232" cy="594360"/>
          </a:xfrm>
          <a:prstGeom prst="rect">
            <a:avLst/>
          </a:prstGeom>
          <a:noFill/>
        </p:spPr>
        <p:txBody>
          <a:bodyPr wrap="square" lIns="0" rIns="0" tIns="0" bIns="0">
            <a:spAutoFit/>
          </a:bodyPr>
          <a:lstStyle/>
          <a:p>
            <a:pPr algn="l">
              <a:lnSpc>
                <a:spcPct val="100000"/>
              </a:lnSpc>
              <a:spcAft>
                <a:spcPts val="600"/>
              </a:spcAft>
            </a:pPr>
            <a:r>
              <a:rPr sz="3000" b="1" i="0">
                <a:solidFill>
                  <a:srgbClr val="13324B"/>
                </a:solidFill>
                <a:latin typeface="Georgia"/>
              </a:rPr>
              <a:t>We did not assume the problem. We measured it.</a:t>
            </a:r>
          </a:p>
        </p:txBody>
      </p:sp>
      <p:sp>
        <p:nvSpPr>
          <p:cNvPr id="4" name="Rectangle 3"/>
          <p:cNvSpPr/>
          <p:nvPr/>
        </p:nvSpPr>
        <p:spPr>
          <a:xfrm>
            <a:off x="594360" y="1207008"/>
            <a:ext cx="11000232" cy="10160"/>
          </a:xfrm>
          <a:prstGeom prst="rect">
            <a:avLst/>
          </a:prstGeom>
          <a:solidFill>
            <a:srgbClr val="DD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463040"/>
            <a:ext cx="2578608" cy="105156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627632"/>
            <a:ext cx="2176272" cy="722376"/>
          </a:xfrm>
          <a:prstGeom prst="rect">
            <a:avLst/>
          </a:prstGeom>
          <a:noFill/>
        </p:spPr>
        <p:txBody>
          <a:bodyPr wrap="square" lIns="0" rIns="0" tIns="0" bIns="0">
            <a:spAutoFit/>
          </a:bodyPr>
          <a:lstStyle/>
          <a:p>
            <a:pPr algn="l">
              <a:lnSpc>
                <a:spcPct val="105000"/>
              </a:lnSpc>
              <a:spcAft>
                <a:spcPts val="200"/>
              </a:spcAft>
            </a:pPr>
            <a:r>
              <a:rPr sz="2600" b="1" i="0">
                <a:solidFill>
                  <a:srgbClr val="13324B"/>
                </a:solidFill>
                <a:latin typeface="Georgia"/>
              </a:rPr>
              <a:t>9,800</a:t>
            </a:r>
          </a:p>
          <a:p>
            <a:pPr algn="l">
              <a:lnSpc>
                <a:spcPct val="105000"/>
              </a:lnSpc>
              <a:spcAft>
                <a:spcPts val="200"/>
              </a:spcAft>
            </a:pPr>
            <a:r>
              <a:rPr sz="1000" b="0" i="0">
                <a:solidFill>
                  <a:srgbClr val="8A9BA8"/>
                </a:solidFill>
                <a:latin typeface="Calibri"/>
              </a:rPr>
              <a:t>advertisers analysed</a:t>
            </a:r>
          </a:p>
        </p:txBody>
      </p:sp>
      <p:sp>
        <p:nvSpPr>
          <p:cNvPr id="7" name="Rounded Rectangle 6"/>
          <p:cNvSpPr/>
          <p:nvPr/>
        </p:nvSpPr>
        <p:spPr>
          <a:xfrm>
            <a:off x="3401568" y="1463040"/>
            <a:ext cx="2578608" cy="105156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2736" y="1627632"/>
            <a:ext cx="2176272" cy="722376"/>
          </a:xfrm>
          <a:prstGeom prst="rect">
            <a:avLst/>
          </a:prstGeom>
          <a:noFill/>
        </p:spPr>
        <p:txBody>
          <a:bodyPr wrap="square" lIns="0" rIns="0" tIns="0" bIns="0">
            <a:spAutoFit/>
          </a:bodyPr>
          <a:lstStyle/>
          <a:p>
            <a:pPr algn="l">
              <a:lnSpc>
                <a:spcPct val="105000"/>
              </a:lnSpc>
              <a:spcAft>
                <a:spcPts val="200"/>
              </a:spcAft>
            </a:pPr>
            <a:r>
              <a:rPr sz="2600" b="1" i="0">
                <a:solidFill>
                  <a:srgbClr val="13324B"/>
                </a:solidFill>
                <a:latin typeface="Georgia"/>
              </a:rPr>
              <a:t>1,304</a:t>
            </a:r>
          </a:p>
          <a:p>
            <a:pPr algn="l">
              <a:lnSpc>
                <a:spcPct val="105000"/>
              </a:lnSpc>
              <a:spcAft>
                <a:spcPts val="200"/>
              </a:spcAft>
            </a:pPr>
            <a:r>
              <a:rPr sz="1000" b="0" i="0">
                <a:solidFill>
                  <a:srgbClr val="8A9BA8"/>
                </a:solidFill>
                <a:latin typeface="Calibri"/>
              </a:rPr>
              <a:t>confirmed dropshippers</a:t>
            </a:r>
          </a:p>
        </p:txBody>
      </p:sp>
      <p:sp>
        <p:nvSpPr>
          <p:cNvPr id="9" name="Rounded Rectangle 8"/>
          <p:cNvSpPr/>
          <p:nvPr/>
        </p:nvSpPr>
        <p:spPr>
          <a:xfrm>
            <a:off x="6208776" y="1463040"/>
            <a:ext cx="2578608" cy="105156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9944" y="1627632"/>
            <a:ext cx="2176272" cy="722376"/>
          </a:xfrm>
          <a:prstGeom prst="rect">
            <a:avLst/>
          </a:prstGeom>
          <a:noFill/>
        </p:spPr>
        <p:txBody>
          <a:bodyPr wrap="square" lIns="0" rIns="0" tIns="0" bIns="0">
            <a:spAutoFit/>
          </a:bodyPr>
          <a:lstStyle/>
          <a:p>
            <a:pPr algn="l">
              <a:lnSpc>
                <a:spcPct val="105000"/>
              </a:lnSpc>
              <a:spcAft>
                <a:spcPts val="200"/>
              </a:spcAft>
            </a:pPr>
            <a:r>
              <a:rPr sz="2600" b="1" i="0">
                <a:solidFill>
                  <a:srgbClr val="13324B"/>
                </a:solidFill>
                <a:latin typeface="Georgia"/>
              </a:rPr>
              <a:t>1,469</a:t>
            </a:r>
          </a:p>
          <a:p>
            <a:pPr algn="l">
              <a:lnSpc>
                <a:spcPct val="105000"/>
              </a:lnSpc>
              <a:spcAft>
                <a:spcPts val="200"/>
              </a:spcAft>
            </a:pPr>
            <a:r>
              <a:rPr sz="1000" b="0" i="0">
                <a:solidFill>
                  <a:srgbClr val="8A9BA8"/>
                </a:solidFill>
                <a:latin typeface="Calibri"/>
              </a:rPr>
              <a:t>uncertain, not accused</a:t>
            </a:r>
          </a:p>
        </p:txBody>
      </p:sp>
      <p:sp>
        <p:nvSpPr>
          <p:cNvPr id="11" name="Rounded Rectangle 10"/>
          <p:cNvSpPr/>
          <p:nvPr/>
        </p:nvSpPr>
        <p:spPr>
          <a:xfrm>
            <a:off x="9015984" y="1463040"/>
            <a:ext cx="2578608" cy="105156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17152" y="1627632"/>
            <a:ext cx="2176272" cy="722376"/>
          </a:xfrm>
          <a:prstGeom prst="rect">
            <a:avLst/>
          </a:prstGeom>
          <a:noFill/>
        </p:spPr>
        <p:txBody>
          <a:bodyPr wrap="square" lIns="0" rIns="0" tIns="0" bIns="0">
            <a:spAutoFit/>
          </a:bodyPr>
          <a:lstStyle/>
          <a:p>
            <a:pPr algn="l">
              <a:lnSpc>
                <a:spcPct val="105000"/>
              </a:lnSpc>
              <a:spcAft>
                <a:spcPts val="200"/>
              </a:spcAft>
            </a:pPr>
            <a:r>
              <a:rPr sz="2600" b="1" i="0">
                <a:solidFill>
                  <a:srgbClr val="13324B"/>
                </a:solidFill>
                <a:latin typeface="Georgia"/>
              </a:rPr>
              <a:t>661</a:t>
            </a:r>
          </a:p>
          <a:p>
            <a:pPr algn="l">
              <a:lnSpc>
                <a:spcPct val="105000"/>
              </a:lnSpc>
              <a:spcAft>
                <a:spcPts val="200"/>
              </a:spcAft>
            </a:pPr>
            <a:r>
              <a:rPr sz="1000" b="0" i="0">
                <a:solidFill>
                  <a:srgbClr val="8A9BA8"/>
                </a:solidFill>
                <a:latin typeface="Calibri"/>
              </a:rPr>
              <a:t>domains above threshold</a:t>
            </a:r>
          </a:p>
        </p:txBody>
      </p:sp>
      <p:sp>
        <p:nvSpPr>
          <p:cNvPr id="13" name="TextBox 12"/>
          <p:cNvSpPr txBox="1"/>
          <p:nvPr/>
        </p:nvSpPr>
        <p:spPr>
          <a:xfrm>
            <a:off x="594360" y="2880360"/>
            <a:ext cx="11000232" cy="2377440"/>
          </a:xfrm>
          <a:prstGeom prst="rect">
            <a:avLst/>
          </a:prstGeom>
          <a:noFill/>
        </p:spPr>
        <p:txBody>
          <a:bodyPr wrap="square" lIns="0" rIns="0" tIns="0" bIns="0">
            <a:spAutoFit/>
          </a:bodyPr>
          <a:lstStyle/>
          <a:p>
            <a:pPr algn="l">
              <a:lnSpc>
                <a:spcPct val="112000"/>
              </a:lnSpc>
              <a:spcAft>
                <a:spcPts val="1000"/>
              </a:spcAft>
            </a:pPr>
            <a:r>
              <a:rPr sz="1200" b="1" i="0">
                <a:solidFill>
                  <a:srgbClr val="33475B"/>
                </a:solidFill>
                <a:latin typeface="Calibri"/>
              </a:rPr>
              <a:t>About 28% </a:t>
            </a:r>
            <a:r>
              <a:rPr sz="1200" b="0" i="0">
                <a:solidFill>
                  <a:srgbClr val="33475B"/>
                </a:solidFill>
                <a:latin typeface="Calibri"/>
              </a:rPr>
              <a:t>of the advertisers we examined showed characteristics ranging from suspicious to clearly deceptive.</a:t>
            </a:r>
          </a:p>
          <a:p>
            <a:pPr algn="l">
              <a:lnSpc>
                <a:spcPct val="112000"/>
              </a:lnSpc>
              <a:spcAft>
                <a:spcPts val="1000"/>
              </a:spcAft>
            </a:pPr>
            <a:r>
              <a:rPr sz="1200" b="1" i="0">
                <a:solidFill>
                  <a:srgbClr val="33475B"/>
                </a:solidFill>
                <a:latin typeface="Calibri"/>
              </a:rPr>
              <a:t>542 storefronts </a:t>
            </a:r>
            <a:r>
              <a:rPr sz="1200" b="0" i="0">
                <a:solidFill>
                  <a:srgbClr val="33475B"/>
                </a:solidFill>
                <a:latin typeface="Calibri"/>
              </a:rPr>
              <a:t>carry an independently located marketplace price for the same product.</a:t>
            </a:r>
          </a:p>
          <a:p>
            <a:pPr algn="l">
              <a:lnSpc>
                <a:spcPct val="112000"/>
              </a:lnSpc>
              <a:spcAft>
                <a:spcPts val="1000"/>
              </a:spcAft>
            </a:pPr>
            <a:r>
              <a:rPr sz="1200" b="1" i="0">
                <a:solidFill>
                  <a:srgbClr val="33475B"/>
                </a:solidFill>
                <a:latin typeface="Calibri"/>
              </a:rPr>
              <a:t>Qualitative. </a:t>
            </a:r>
            <a:r>
              <a:rPr sz="1200" b="0" i="0">
                <a:solidFill>
                  <a:srgbClr val="33475B"/>
                </a:solidFill>
                <a:latin typeface="Calibri"/>
              </a:rPr>
              <a:t>The project began with friends and family who had bought from these shops and found out afterwards what the item really cost.</a:t>
            </a:r>
          </a:p>
          <a:p>
            <a:pPr algn="l">
              <a:lnSpc>
                <a:spcPct val="112000"/>
              </a:lnSpc>
              <a:spcAft>
                <a:spcPts val="1000"/>
              </a:spcAft>
            </a:pPr>
            <a:r>
              <a:rPr sz="1200" b="1" i="0">
                <a:solidFill>
                  <a:srgbClr val="33475B"/>
                </a:solidFill>
                <a:latin typeface="Calibri"/>
              </a:rPr>
              <a:t>Still to do. </a:t>
            </a:r>
            <a:r>
              <a:rPr sz="1200" b="0" i="0">
                <a:solidFill>
                  <a:srgbClr val="33475B"/>
                </a:solidFill>
                <a:latin typeface="Calibri"/>
              </a:rPr>
              <a:t>Structured surveys and interviews to quantify willingness to install. Not yet complete.</a:t>
            </a:r>
          </a:p>
        </p:txBody>
      </p:sp>
      <p:sp>
        <p:nvSpPr>
          <p:cNvPr id="14" name="TextBox 13"/>
          <p:cNvSpPr txBox="1"/>
          <p:nvPr/>
        </p:nvSpPr>
        <p:spPr>
          <a:xfrm>
            <a:off x="594360" y="6419088"/>
            <a:ext cx="9601200" cy="274320"/>
          </a:xfrm>
          <a:prstGeom prst="rect">
            <a:avLst/>
          </a:prstGeom>
          <a:noFill/>
        </p:spPr>
        <p:txBody>
          <a:bodyPr wrap="square" lIns="0" rIns="0" tIns="0" bIns="0">
            <a:spAutoFit/>
          </a:bodyPr>
          <a:lstStyle/>
          <a:p>
            <a:pPr algn="l">
              <a:lnSpc>
                <a:spcPct val="100000"/>
              </a:lnSpc>
              <a:spcAft>
                <a:spcPts val="600"/>
              </a:spcAft>
            </a:pPr>
            <a:r>
              <a:rPr sz="900" b="0" i="1">
                <a:solidFill>
                  <a:srgbClr val="8A9BA8"/>
                </a:solidFill>
                <a:latin typeface="Calibri"/>
              </a:rPr>
              <a:t>Measured from real Israeli-targeted advertising, not from a survey of stated intent.</a:t>
            </a:r>
          </a:p>
        </p:txBody>
      </p:sp>
      <p:sp>
        <p:nvSpPr>
          <p:cNvPr id="15" name="TextBox 14"/>
          <p:cNvSpPr txBox="1"/>
          <p:nvPr/>
        </p:nvSpPr>
        <p:spPr>
          <a:xfrm>
            <a:off x="11475720" y="6419088"/>
            <a:ext cx="411480" cy="274320"/>
          </a:xfrm>
          <a:prstGeom prst="rect">
            <a:avLst/>
          </a:prstGeom>
          <a:noFill/>
        </p:spPr>
        <p:txBody>
          <a:bodyPr wrap="square" lIns="0" rIns="0" tIns="0" bIns="0">
            <a:spAutoFit/>
          </a:bodyPr>
          <a:lstStyle/>
          <a:p>
            <a:pPr algn="r">
              <a:lnSpc>
                <a:spcPct val="100000"/>
              </a:lnSpc>
              <a:spcAft>
                <a:spcPts val="600"/>
              </a:spcAft>
            </a:pPr>
            <a:r>
              <a:rPr sz="900" b="0" i="0">
                <a:solidFill>
                  <a:srgbClr val="8A9BA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lIns="0" rIns="0" tIns="0" bIns="0">
            <a:spAutoFit/>
          </a:bodyPr>
          <a:lstStyle/>
          <a:p>
            <a:pPr algn="l">
              <a:lnSpc>
                <a:spcPct val="100000"/>
              </a:lnSpc>
              <a:spcAft>
                <a:spcPts val="600"/>
              </a:spcAft>
            </a:pPr>
            <a:r>
              <a:rPr sz="1050" b="1" i="0">
                <a:solidFill>
                  <a:srgbClr val="1B6E8F"/>
                </a:solidFill>
                <a:latin typeface="Consolas"/>
              </a:rPr>
              <a:t>THE IDEA</a:t>
            </a:r>
          </a:p>
        </p:txBody>
      </p:sp>
      <p:sp>
        <p:nvSpPr>
          <p:cNvPr id="3" name="TextBox 2"/>
          <p:cNvSpPr txBox="1"/>
          <p:nvPr/>
        </p:nvSpPr>
        <p:spPr>
          <a:xfrm>
            <a:off x="594360" y="658368"/>
            <a:ext cx="11000232" cy="594360"/>
          </a:xfrm>
          <a:prstGeom prst="rect">
            <a:avLst/>
          </a:prstGeom>
          <a:noFill/>
        </p:spPr>
        <p:txBody>
          <a:bodyPr wrap="square" lIns="0" rIns="0" tIns="0" bIns="0">
            <a:spAutoFit/>
          </a:bodyPr>
          <a:lstStyle/>
          <a:p>
            <a:pPr algn="l">
              <a:lnSpc>
                <a:spcPct val="100000"/>
              </a:lnSpc>
              <a:spcAft>
                <a:spcPts val="600"/>
              </a:spcAft>
            </a:pPr>
            <a:r>
              <a:rPr sz="2600" b="1" i="0">
                <a:solidFill>
                  <a:srgbClr val="13324B"/>
                </a:solidFill>
                <a:latin typeface="Georgia"/>
              </a:rPr>
              <a:t>Watch the acquisition channel, not the reputation trail</a:t>
            </a:r>
          </a:p>
        </p:txBody>
      </p:sp>
      <p:sp>
        <p:nvSpPr>
          <p:cNvPr id="4" name="Rectangle 3"/>
          <p:cNvSpPr/>
          <p:nvPr/>
        </p:nvSpPr>
        <p:spPr>
          <a:xfrm>
            <a:off x="594360" y="1207008"/>
            <a:ext cx="11000232" cy="10160"/>
          </a:xfrm>
          <a:prstGeom prst="rect">
            <a:avLst/>
          </a:prstGeom>
          <a:solidFill>
            <a:srgbClr val="DD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508760"/>
            <a:ext cx="5349240" cy="182880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673352"/>
            <a:ext cx="4946904" cy="1499616"/>
          </a:xfrm>
          <a:prstGeom prst="rect">
            <a:avLst/>
          </a:prstGeom>
          <a:noFill/>
        </p:spPr>
        <p:txBody>
          <a:bodyPr wrap="square" lIns="0" rIns="0" tIns="0" bIns="0">
            <a:spAutoFit/>
          </a:bodyPr>
          <a:lstStyle/>
          <a:p>
            <a:pPr algn="l">
              <a:lnSpc>
                <a:spcPct val="105000"/>
              </a:lnSpc>
              <a:spcAft>
                <a:spcPts val="400"/>
              </a:spcAft>
            </a:pPr>
            <a:r>
              <a:rPr sz="1200" b="1" i="0">
                <a:solidFill>
                  <a:srgbClr val="A93A3A"/>
                </a:solidFill>
                <a:latin typeface="Calibri"/>
              </a:rPr>
              <a:t>Everyone else</a:t>
            </a:r>
          </a:p>
          <a:p>
            <a:pPr algn="l">
              <a:lnSpc>
                <a:spcPct val="105000"/>
              </a:lnSpc>
              <a:spcAft>
                <a:spcPts val="400"/>
              </a:spcAft>
            </a:pPr>
            <a:r>
              <a:rPr sz="1150" b="0" i="0">
                <a:solidFill>
                  <a:srgbClr val="33475B"/>
                </a:solidFill>
                <a:latin typeface="Calibri"/>
              </a:rPr>
              <a:t>Judge a site after users meet it, using reviews, complaints, domain age and traffic. All of these need time to accumulate, and a three-week-old storefront has none of them.</a:t>
            </a:r>
          </a:p>
        </p:txBody>
      </p:sp>
      <p:sp>
        <p:nvSpPr>
          <p:cNvPr id="7" name="Rounded Rectangle 6"/>
          <p:cNvSpPr/>
          <p:nvPr/>
        </p:nvSpPr>
        <p:spPr>
          <a:xfrm>
            <a:off x="6245352" y="1508760"/>
            <a:ext cx="5349240" cy="1828800"/>
          </a:xfrm>
          <a:prstGeom prst="roundRect">
            <a:avLst>
              <a:gd name="adj" fmla="val 6000"/>
            </a:avLst>
          </a:prstGeom>
          <a:solidFill>
            <a:srgbClr val="DCE9F1"/>
          </a:solidFill>
          <a:ln w="9525">
            <a:solidFill>
              <a:srgbClr val="DCE9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73352"/>
            <a:ext cx="4946904" cy="1499616"/>
          </a:xfrm>
          <a:prstGeom prst="rect">
            <a:avLst/>
          </a:prstGeom>
          <a:noFill/>
        </p:spPr>
        <p:txBody>
          <a:bodyPr wrap="square" lIns="0" rIns="0" tIns="0" bIns="0">
            <a:spAutoFit/>
          </a:bodyPr>
          <a:lstStyle/>
          <a:p>
            <a:pPr algn="l">
              <a:lnSpc>
                <a:spcPct val="105000"/>
              </a:lnSpc>
              <a:spcAft>
                <a:spcPts val="400"/>
              </a:spcAft>
            </a:pPr>
            <a:r>
              <a:rPr sz="1200" b="1" i="0">
                <a:solidFill>
                  <a:srgbClr val="2E7D4F"/>
                </a:solidFill>
                <a:latin typeface="Calibri"/>
              </a:rPr>
              <a:t>Adora</a:t>
            </a:r>
          </a:p>
          <a:p>
            <a:pPr algn="l">
              <a:lnSpc>
                <a:spcPct val="105000"/>
              </a:lnSpc>
              <a:spcAft>
                <a:spcPts val="400"/>
              </a:spcAft>
            </a:pPr>
            <a:r>
              <a:rPr sz="1150" b="0" i="0">
                <a:solidFill>
                  <a:srgbClr val="33475B"/>
                </a:solidFill>
                <a:latin typeface="Calibri"/>
              </a:rPr>
              <a:t>A storefront cannot reach Israeli customers at scale without appearing in the public Ad Library, and it appears there on day one. We see the domain when it starts spending, not when it starts disappointing.</a:t>
            </a:r>
          </a:p>
        </p:txBody>
      </p:sp>
      <p:sp>
        <p:nvSpPr>
          <p:cNvPr id="9" name="Rounded Rectangle 8"/>
          <p:cNvSpPr/>
          <p:nvPr/>
        </p:nvSpPr>
        <p:spPr>
          <a:xfrm>
            <a:off x="594360" y="3749039"/>
            <a:ext cx="11000232" cy="1371600"/>
          </a:xfrm>
          <a:prstGeom prst="roundRect">
            <a:avLst>
              <a:gd name="adj" fmla="val 6000"/>
            </a:avLst>
          </a:prstGeom>
          <a:solidFill>
            <a:srgbClr val="FFFFFF"/>
          </a:solidFill>
          <a:ln w="9525">
            <a:solidFill>
              <a:srgbClr val="13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3913631"/>
            <a:ext cx="10597896" cy="1042416"/>
          </a:xfrm>
          <a:prstGeom prst="rect">
            <a:avLst/>
          </a:prstGeom>
          <a:noFill/>
        </p:spPr>
        <p:txBody>
          <a:bodyPr wrap="square" lIns="0" rIns="0" tIns="0" bIns="0">
            <a:spAutoFit/>
          </a:bodyPr>
          <a:lstStyle/>
          <a:p>
            <a:pPr algn="l">
              <a:lnSpc>
                <a:spcPct val="105000"/>
              </a:lnSpc>
              <a:spcAft>
                <a:spcPts val="800"/>
              </a:spcAft>
            </a:pPr>
            <a:r>
              <a:rPr sz="1050" b="1" i="0">
                <a:solidFill>
                  <a:srgbClr val="1B6E8F"/>
                </a:solidFill>
                <a:latin typeface="Consolas"/>
              </a:rPr>
              <a:t>The value proposition</a:t>
            </a:r>
          </a:p>
          <a:p>
            <a:pPr algn="l">
              <a:lnSpc>
                <a:spcPct val="105000"/>
              </a:lnSpc>
              <a:spcAft>
                <a:spcPts val="800"/>
              </a:spcAft>
            </a:pPr>
            <a:r>
              <a:rPr sz="1700" b="1" i="0">
                <a:solidFill>
                  <a:srgbClr val="13324B"/>
                </a:solidFill>
                <a:latin typeface="Georgia"/>
              </a:rPr>
              <a:t>You learn what the item actually costs, while there is still time to decide.</a:t>
            </a:r>
          </a:p>
        </p:txBody>
      </p:sp>
      <p:sp>
        <p:nvSpPr>
          <p:cNvPr id="11" name="TextBox 10"/>
          <p:cNvSpPr txBox="1"/>
          <p:nvPr/>
        </p:nvSpPr>
        <p:spPr>
          <a:xfrm>
            <a:off x="594360" y="6419088"/>
            <a:ext cx="9601200" cy="274320"/>
          </a:xfrm>
          <a:prstGeom prst="rect">
            <a:avLst/>
          </a:prstGeom>
          <a:noFill/>
        </p:spPr>
        <p:txBody>
          <a:bodyPr wrap="square" lIns="0" rIns="0" tIns="0" bIns="0">
            <a:spAutoFit/>
          </a:bodyPr>
          <a:lstStyle/>
          <a:p>
            <a:pPr algn="l">
              <a:lnSpc>
                <a:spcPct val="100000"/>
              </a:lnSpc>
              <a:spcAft>
                <a:spcPts val="600"/>
              </a:spcAft>
            </a:pPr>
            <a:r>
              <a:rPr sz="900" b="0" i="1">
                <a:solidFill>
                  <a:srgbClr val="8A9BA8"/>
                </a:solidFill>
                <a:latin typeface="Calibri"/>
              </a:rPr>
              <a:t>Adora does not block the purchase. Buying a marketplace product from a reseller is a fair choice. Making it without knowing is not.</a:t>
            </a:r>
          </a:p>
        </p:txBody>
      </p:sp>
      <p:sp>
        <p:nvSpPr>
          <p:cNvPr id="12" name="TextBox 11"/>
          <p:cNvSpPr txBox="1"/>
          <p:nvPr/>
        </p:nvSpPr>
        <p:spPr>
          <a:xfrm>
            <a:off x="11475720" y="6419088"/>
            <a:ext cx="411480" cy="274320"/>
          </a:xfrm>
          <a:prstGeom prst="rect">
            <a:avLst/>
          </a:prstGeom>
          <a:noFill/>
        </p:spPr>
        <p:txBody>
          <a:bodyPr wrap="square" lIns="0" rIns="0" tIns="0" bIns="0">
            <a:spAutoFit/>
          </a:bodyPr>
          <a:lstStyle/>
          <a:p>
            <a:pPr algn="r">
              <a:lnSpc>
                <a:spcPct val="100000"/>
              </a:lnSpc>
              <a:spcAft>
                <a:spcPts val="600"/>
              </a:spcAft>
            </a:pPr>
            <a:r>
              <a:rPr sz="900" b="0" i="0">
                <a:solidFill>
                  <a:srgbClr val="8A9BA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lIns="0" rIns="0" tIns="0" bIns="0">
            <a:spAutoFit/>
          </a:bodyPr>
          <a:lstStyle/>
          <a:p>
            <a:pPr algn="l">
              <a:lnSpc>
                <a:spcPct val="100000"/>
              </a:lnSpc>
              <a:spcAft>
                <a:spcPts val="600"/>
              </a:spcAft>
            </a:pPr>
            <a:r>
              <a:rPr sz="1050" b="1" i="0">
                <a:solidFill>
                  <a:srgbClr val="1B6E8F"/>
                </a:solidFill>
                <a:latin typeface="Consolas"/>
              </a:rPr>
              <a:t>THE PRODUCT</a:t>
            </a:r>
          </a:p>
        </p:txBody>
      </p:sp>
      <p:sp>
        <p:nvSpPr>
          <p:cNvPr id="3" name="TextBox 2"/>
          <p:cNvSpPr txBox="1"/>
          <p:nvPr/>
        </p:nvSpPr>
        <p:spPr>
          <a:xfrm>
            <a:off x="594360" y="658368"/>
            <a:ext cx="11000232" cy="594360"/>
          </a:xfrm>
          <a:prstGeom prst="rect">
            <a:avLst/>
          </a:prstGeom>
          <a:noFill/>
        </p:spPr>
        <p:txBody>
          <a:bodyPr wrap="square" lIns="0" rIns="0" tIns="0" bIns="0">
            <a:spAutoFit/>
          </a:bodyPr>
          <a:lstStyle/>
          <a:p>
            <a:pPr algn="l">
              <a:lnSpc>
                <a:spcPct val="100000"/>
              </a:lnSpc>
              <a:spcAft>
                <a:spcPts val="600"/>
              </a:spcAft>
            </a:pPr>
            <a:r>
              <a:rPr sz="3000" b="1" i="0">
                <a:solidFill>
                  <a:srgbClr val="13324B"/>
                </a:solidFill>
                <a:latin typeface="Georgia"/>
              </a:rPr>
              <a:t>Install once, then forget it</a:t>
            </a:r>
          </a:p>
        </p:txBody>
      </p:sp>
      <p:sp>
        <p:nvSpPr>
          <p:cNvPr id="4" name="Rectangle 3"/>
          <p:cNvSpPr/>
          <p:nvPr/>
        </p:nvSpPr>
        <p:spPr>
          <a:xfrm>
            <a:off x="594360" y="1207008"/>
            <a:ext cx="11000232" cy="10160"/>
          </a:xfrm>
          <a:prstGeom prst="rect">
            <a:avLst/>
          </a:prstGeom>
          <a:solidFill>
            <a:srgbClr val="DD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463040"/>
            <a:ext cx="2578608" cy="251460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95528" y="1664208"/>
            <a:ext cx="347472" cy="347472"/>
          </a:xfrm>
          <a:prstGeom prst="ellipse">
            <a:avLst/>
          </a:prstGeom>
          <a:solidFill>
            <a:srgbClr val="DCE9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13324B"/>
                </a:solidFill>
                <a:latin typeface="Calibri"/>
              </a:rPr>
              <a:t>1</a:t>
            </a:r>
          </a:p>
        </p:txBody>
      </p:sp>
      <p:sp>
        <p:nvSpPr>
          <p:cNvPr id="7" name="TextBox 6"/>
          <p:cNvSpPr txBox="1"/>
          <p:nvPr/>
        </p:nvSpPr>
        <p:spPr>
          <a:xfrm>
            <a:off x="795528" y="2148840"/>
            <a:ext cx="2176272" cy="1737360"/>
          </a:xfrm>
          <a:prstGeom prst="rect">
            <a:avLst/>
          </a:prstGeom>
          <a:noFill/>
        </p:spPr>
        <p:txBody>
          <a:bodyPr wrap="square" lIns="0" rIns="0" tIns="0" bIns="0">
            <a:spAutoFit/>
          </a:bodyPr>
          <a:lstStyle/>
          <a:p>
            <a:pPr algn="l">
              <a:lnSpc>
                <a:spcPct val="110000"/>
              </a:lnSpc>
              <a:spcAft>
                <a:spcPts val="500"/>
              </a:spcAft>
            </a:pPr>
            <a:r>
              <a:rPr sz="1250" b="1" i="0">
                <a:solidFill>
                  <a:srgbClr val="13324B"/>
                </a:solidFill>
                <a:latin typeface="Calibri"/>
              </a:rPr>
              <a:t>Install</a:t>
            </a:r>
          </a:p>
          <a:p>
            <a:pPr algn="l">
              <a:lnSpc>
                <a:spcPct val="110000"/>
              </a:lnSpc>
              <a:spcAft>
                <a:spcPts val="500"/>
              </a:spcAft>
            </a:pPr>
            <a:r>
              <a:rPr sz="1050" b="0" i="0">
                <a:solidFill>
                  <a:srgbClr val="33475B"/>
                </a:solidFill>
                <a:latin typeface="Calibri"/>
              </a:rPr>
              <a:t>Chrome, Safari on desktop, and Safari on iPhone. One install, no account required to get warnings.</a:t>
            </a:r>
          </a:p>
        </p:txBody>
      </p:sp>
      <p:sp>
        <p:nvSpPr>
          <p:cNvPr id="8" name="Rounded Rectangle 7"/>
          <p:cNvSpPr/>
          <p:nvPr/>
        </p:nvSpPr>
        <p:spPr>
          <a:xfrm>
            <a:off x="3401568" y="1463040"/>
            <a:ext cx="2578608" cy="251460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602736" y="1664208"/>
            <a:ext cx="347472" cy="347472"/>
          </a:xfrm>
          <a:prstGeom prst="ellipse">
            <a:avLst/>
          </a:prstGeom>
          <a:solidFill>
            <a:srgbClr val="DCE9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13324B"/>
                </a:solidFill>
                <a:latin typeface="Calibri"/>
              </a:rPr>
              <a:t>2</a:t>
            </a:r>
          </a:p>
        </p:txBody>
      </p:sp>
      <p:sp>
        <p:nvSpPr>
          <p:cNvPr id="10" name="TextBox 9"/>
          <p:cNvSpPr txBox="1"/>
          <p:nvPr/>
        </p:nvSpPr>
        <p:spPr>
          <a:xfrm>
            <a:off x="3602736" y="2148840"/>
            <a:ext cx="2176272" cy="1737360"/>
          </a:xfrm>
          <a:prstGeom prst="rect">
            <a:avLst/>
          </a:prstGeom>
          <a:noFill/>
        </p:spPr>
        <p:txBody>
          <a:bodyPr wrap="square" lIns="0" rIns="0" tIns="0" bIns="0">
            <a:spAutoFit/>
          </a:bodyPr>
          <a:lstStyle/>
          <a:p>
            <a:pPr algn="l">
              <a:lnSpc>
                <a:spcPct val="110000"/>
              </a:lnSpc>
              <a:spcAft>
                <a:spcPts val="500"/>
              </a:spcAft>
            </a:pPr>
            <a:r>
              <a:rPr sz="1250" b="1" i="0">
                <a:solidFill>
                  <a:srgbClr val="13324B"/>
                </a:solidFill>
                <a:latin typeface="Calibri"/>
              </a:rPr>
              <a:t>Browse normally</a:t>
            </a:r>
          </a:p>
          <a:p>
            <a:pPr algn="l">
              <a:lnSpc>
                <a:spcPct val="110000"/>
              </a:lnSpc>
              <a:spcAft>
                <a:spcPts val="500"/>
              </a:spcAft>
            </a:pPr>
            <a:r>
              <a:rPr sz="1050" b="0" i="0">
                <a:solidFill>
                  <a:srgbClr val="33475B"/>
                </a:solidFill>
                <a:latin typeface="Calibri"/>
              </a:rPr>
              <a:t>Nothing happens on the vast majority of sites. Around 22,000 trusted domains are resolved on the device with no network call at all.</a:t>
            </a:r>
          </a:p>
        </p:txBody>
      </p:sp>
      <p:sp>
        <p:nvSpPr>
          <p:cNvPr id="11" name="Rounded Rectangle 10"/>
          <p:cNvSpPr/>
          <p:nvPr/>
        </p:nvSpPr>
        <p:spPr>
          <a:xfrm>
            <a:off x="6208776" y="1463040"/>
            <a:ext cx="2578608" cy="251460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09944" y="1664208"/>
            <a:ext cx="347472" cy="347472"/>
          </a:xfrm>
          <a:prstGeom prst="ellipse">
            <a:avLst/>
          </a:prstGeom>
          <a:solidFill>
            <a:srgbClr val="DCE9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13324B"/>
                </a:solidFill>
                <a:latin typeface="Calibri"/>
              </a:rPr>
              <a:t>3</a:t>
            </a:r>
          </a:p>
        </p:txBody>
      </p:sp>
      <p:sp>
        <p:nvSpPr>
          <p:cNvPr id="13" name="TextBox 12"/>
          <p:cNvSpPr txBox="1"/>
          <p:nvPr/>
        </p:nvSpPr>
        <p:spPr>
          <a:xfrm>
            <a:off x="6409944" y="2148840"/>
            <a:ext cx="2176272" cy="1737360"/>
          </a:xfrm>
          <a:prstGeom prst="rect">
            <a:avLst/>
          </a:prstGeom>
          <a:noFill/>
        </p:spPr>
        <p:txBody>
          <a:bodyPr wrap="square" lIns="0" rIns="0" tIns="0" bIns="0">
            <a:spAutoFit/>
          </a:bodyPr>
          <a:lstStyle/>
          <a:p>
            <a:pPr algn="l">
              <a:lnSpc>
                <a:spcPct val="110000"/>
              </a:lnSpc>
              <a:spcAft>
                <a:spcPts val="500"/>
              </a:spcAft>
            </a:pPr>
            <a:r>
              <a:rPr sz="1250" b="1" i="0">
                <a:solidFill>
                  <a:srgbClr val="13324B"/>
                </a:solidFill>
                <a:latin typeface="Calibri"/>
              </a:rPr>
              <a:t>Get warned</a:t>
            </a:r>
          </a:p>
          <a:p>
            <a:pPr algn="l">
              <a:lnSpc>
                <a:spcPct val="110000"/>
              </a:lnSpc>
              <a:spcAft>
                <a:spcPts val="500"/>
              </a:spcAft>
            </a:pPr>
            <a:r>
              <a:rPr sz="1050" b="0" i="0">
                <a:solidFill>
                  <a:srgbClr val="33475B"/>
                </a:solidFill>
                <a:latin typeface="Calibri"/>
              </a:rPr>
              <a:t>On a flagged storefront a banner appears with the verdict and, where we have it, the same product on a marketplace with its real price.</a:t>
            </a:r>
          </a:p>
        </p:txBody>
      </p:sp>
      <p:sp>
        <p:nvSpPr>
          <p:cNvPr id="14" name="Rounded Rectangle 13"/>
          <p:cNvSpPr/>
          <p:nvPr/>
        </p:nvSpPr>
        <p:spPr>
          <a:xfrm>
            <a:off x="9015984" y="1463040"/>
            <a:ext cx="2578608" cy="251460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217152" y="1664208"/>
            <a:ext cx="347472" cy="347472"/>
          </a:xfrm>
          <a:prstGeom prst="ellipse">
            <a:avLst/>
          </a:prstGeom>
          <a:solidFill>
            <a:srgbClr val="DCE9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13324B"/>
                </a:solidFill>
                <a:latin typeface="Calibri"/>
              </a:rPr>
              <a:t>4</a:t>
            </a:r>
          </a:p>
        </p:txBody>
      </p:sp>
      <p:sp>
        <p:nvSpPr>
          <p:cNvPr id="16" name="TextBox 15"/>
          <p:cNvSpPr txBox="1"/>
          <p:nvPr/>
        </p:nvSpPr>
        <p:spPr>
          <a:xfrm>
            <a:off x="9217152" y="2148840"/>
            <a:ext cx="2176272" cy="1737360"/>
          </a:xfrm>
          <a:prstGeom prst="rect">
            <a:avLst/>
          </a:prstGeom>
          <a:noFill/>
        </p:spPr>
        <p:txBody>
          <a:bodyPr wrap="square" lIns="0" rIns="0" tIns="0" bIns="0">
            <a:spAutoFit/>
          </a:bodyPr>
          <a:lstStyle/>
          <a:p>
            <a:pPr algn="l">
              <a:lnSpc>
                <a:spcPct val="110000"/>
              </a:lnSpc>
              <a:spcAft>
                <a:spcPts val="500"/>
              </a:spcAft>
            </a:pPr>
            <a:r>
              <a:rPr sz="1250" b="1" i="0">
                <a:solidFill>
                  <a:srgbClr val="13324B"/>
                </a:solidFill>
                <a:latin typeface="Calibri"/>
              </a:rPr>
              <a:t>Check and contribute</a:t>
            </a:r>
          </a:p>
          <a:p>
            <a:pPr algn="l">
              <a:lnSpc>
                <a:spcPct val="110000"/>
              </a:lnSpc>
              <a:spcAft>
                <a:spcPts val="500"/>
              </a:spcAft>
            </a:pPr>
            <a:r>
              <a:rPr sz="1050" b="0" i="0">
                <a:solidFill>
                  <a:srgbClr val="33475B"/>
                </a:solidFill>
                <a:latin typeface="Calibri"/>
              </a:rPr>
              <a:t>The popup shows the full assessment and the evidence behind it. Signed-in users can vote on a verdict, which feeds back into the database.</a:t>
            </a:r>
          </a:p>
        </p:txBody>
      </p:sp>
      <p:sp>
        <p:nvSpPr>
          <p:cNvPr id="17" name="Rounded Rectangle 16"/>
          <p:cNvSpPr/>
          <p:nvPr/>
        </p:nvSpPr>
        <p:spPr>
          <a:xfrm>
            <a:off x="4535424" y="4114800"/>
            <a:ext cx="2468880" cy="2028613"/>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7.jpg"/>
          <p:cNvPicPr>
            <a:picLocks noChangeAspect="1"/>
          </p:cNvPicPr>
          <p:nvPr/>
        </p:nvPicPr>
        <p:blipFill>
          <a:blip r:embed="rId2"/>
          <a:stretch>
            <a:fillRect/>
          </a:stretch>
        </p:blipFill>
        <p:spPr>
          <a:xfrm>
            <a:off x="4626864" y="4206240"/>
            <a:ext cx="2286000" cy="1845733"/>
          </a:xfrm>
          <a:prstGeom prst="rect">
            <a:avLst/>
          </a:prstGeom>
        </p:spPr>
      </p:pic>
      <p:sp>
        <p:nvSpPr>
          <p:cNvPr id="19" name="TextBox 18"/>
          <p:cNvSpPr txBox="1"/>
          <p:nvPr/>
        </p:nvSpPr>
        <p:spPr>
          <a:xfrm>
            <a:off x="7269480" y="4617720"/>
            <a:ext cx="4023360" cy="1188720"/>
          </a:xfrm>
          <a:prstGeom prst="rect">
            <a:avLst/>
          </a:prstGeom>
          <a:noFill/>
        </p:spPr>
        <p:txBody>
          <a:bodyPr wrap="square" lIns="0" rIns="0" tIns="0" bIns="0">
            <a:spAutoFit/>
          </a:bodyPr>
          <a:lstStyle/>
          <a:p>
            <a:pPr algn="l">
              <a:lnSpc>
                <a:spcPct val="115000"/>
              </a:lnSpc>
              <a:spcAft>
                <a:spcPts val="600"/>
              </a:spcAft>
            </a:pPr>
            <a:r>
              <a:rPr sz="1100" b="0" i="0">
                <a:solidFill>
                  <a:srgbClr val="8A9BA8"/>
                </a:solidFill>
                <a:latin typeface="Calibri"/>
              </a:rPr>
              <a:t>The warning as users see it: the verdict, and the same product with its real price on AliExpress, Walmart and Temu.</a:t>
            </a:r>
          </a:p>
        </p:txBody>
      </p:sp>
      <p:sp>
        <p:nvSpPr>
          <p:cNvPr id="20" name="TextBox 19"/>
          <p:cNvSpPr txBox="1"/>
          <p:nvPr/>
        </p:nvSpPr>
        <p:spPr>
          <a:xfrm>
            <a:off x="594360" y="6419088"/>
            <a:ext cx="9601200" cy="274320"/>
          </a:xfrm>
          <a:prstGeom prst="rect">
            <a:avLst/>
          </a:prstGeom>
          <a:noFill/>
        </p:spPr>
        <p:txBody>
          <a:bodyPr wrap="square" lIns="0" rIns="0" tIns="0" bIns="0">
            <a:spAutoFit/>
          </a:bodyPr>
          <a:lstStyle/>
          <a:p>
            <a:pPr algn="l">
              <a:lnSpc>
                <a:spcPct val="100000"/>
              </a:lnSpc>
              <a:spcAft>
                <a:spcPts val="600"/>
              </a:spcAft>
            </a:pPr>
            <a:r>
              <a:rPr sz="900" b="0" i="1">
                <a:solidFill>
                  <a:srgbClr val="8A9BA8"/>
                </a:solidFill>
                <a:latin typeface="Calibri"/>
              </a:rPr>
              <a:t>Privacy is structural, not a promise. The trusted list ships inside the extension, so Adora never receives most of your browsing.</a:t>
            </a:r>
          </a:p>
        </p:txBody>
      </p:sp>
      <p:sp>
        <p:nvSpPr>
          <p:cNvPr id="21" name="TextBox 20"/>
          <p:cNvSpPr txBox="1"/>
          <p:nvPr/>
        </p:nvSpPr>
        <p:spPr>
          <a:xfrm>
            <a:off x="11475720" y="6419088"/>
            <a:ext cx="411480" cy="274320"/>
          </a:xfrm>
          <a:prstGeom prst="rect">
            <a:avLst/>
          </a:prstGeom>
          <a:noFill/>
        </p:spPr>
        <p:txBody>
          <a:bodyPr wrap="square" lIns="0" rIns="0" tIns="0" bIns="0">
            <a:spAutoFit/>
          </a:bodyPr>
          <a:lstStyle/>
          <a:p>
            <a:pPr algn="r">
              <a:lnSpc>
                <a:spcPct val="100000"/>
              </a:lnSpc>
              <a:spcAft>
                <a:spcPts val="600"/>
              </a:spcAft>
            </a:pPr>
            <a:r>
              <a:rPr sz="900" b="0" i="0">
                <a:solidFill>
                  <a:srgbClr val="8A9BA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32A3E"/>
        </a:solidFill>
        <a:effectLst/>
      </p:bgPr>
    </p:bg>
    <p:spTree>
      <p:nvGrpSpPr>
        <p:cNvPr id="1" name=""/>
        <p:cNvGrpSpPr/>
        <p:nvPr/>
      </p:nvGrpSpPr>
      <p:grpSpPr/>
      <p:sp>
        <p:nvSpPr>
          <p:cNvPr id="2" name="TextBox 1"/>
          <p:cNvSpPr txBox="1"/>
          <p:nvPr/>
        </p:nvSpPr>
        <p:spPr>
          <a:xfrm>
            <a:off x="594360" y="1371600"/>
            <a:ext cx="7315200" cy="274320"/>
          </a:xfrm>
          <a:prstGeom prst="rect">
            <a:avLst/>
          </a:prstGeom>
          <a:noFill/>
        </p:spPr>
        <p:txBody>
          <a:bodyPr wrap="square" lIns="0" rIns="0" tIns="0" bIns="0">
            <a:spAutoFit/>
          </a:bodyPr>
          <a:lstStyle/>
          <a:p>
            <a:pPr algn="l">
              <a:lnSpc>
                <a:spcPct val="100000"/>
              </a:lnSpc>
              <a:spcAft>
                <a:spcPts val="600"/>
              </a:spcAft>
            </a:pPr>
            <a:r>
              <a:rPr sz="1050" b="1" i="0">
                <a:solidFill>
                  <a:srgbClr val="4FC3E8"/>
                </a:solidFill>
                <a:latin typeface="Consolas"/>
              </a:rPr>
              <a:t>LIVE DEMONSTRATION</a:t>
            </a:r>
          </a:p>
        </p:txBody>
      </p:sp>
      <p:sp>
        <p:nvSpPr>
          <p:cNvPr id="3" name="TextBox 2"/>
          <p:cNvSpPr txBox="1"/>
          <p:nvPr/>
        </p:nvSpPr>
        <p:spPr>
          <a:xfrm>
            <a:off x="594360" y="1691640"/>
            <a:ext cx="6400800" cy="914400"/>
          </a:xfrm>
          <a:prstGeom prst="rect">
            <a:avLst/>
          </a:prstGeom>
          <a:noFill/>
        </p:spPr>
        <p:txBody>
          <a:bodyPr wrap="square" lIns="0" rIns="0" tIns="0" bIns="0">
            <a:spAutoFit/>
          </a:bodyPr>
          <a:lstStyle/>
          <a:p>
            <a:pPr algn="l">
              <a:lnSpc>
                <a:spcPct val="100000"/>
              </a:lnSpc>
              <a:spcAft>
                <a:spcPts val="600"/>
              </a:spcAft>
            </a:pPr>
            <a:r>
              <a:rPr sz="4000" b="1" i="0">
                <a:solidFill>
                  <a:srgbClr val="FFFFFF"/>
                </a:solidFill>
                <a:latin typeface="Georgia"/>
              </a:rPr>
              <a:t>Seeing it work</a:t>
            </a:r>
          </a:p>
        </p:txBody>
      </p:sp>
      <p:sp>
        <p:nvSpPr>
          <p:cNvPr id="4" name="TextBox 3"/>
          <p:cNvSpPr txBox="1"/>
          <p:nvPr/>
        </p:nvSpPr>
        <p:spPr>
          <a:xfrm>
            <a:off x="594360" y="2834640"/>
            <a:ext cx="6949440" cy="2926080"/>
          </a:xfrm>
          <a:prstGeom prst="rect">
            <a:avLst/>
          </a:prstGeom>
          <a:noFill/>
        </p:spPr>
        <p:txBody>
          <a:bodyPr wrap="square" lIns="0" rIns="0" tIns="0" bIns="0">
            <a:spAutoFit/>
          </a:bodyPr>
          <a:lstStyle/>
          <a:p>
            <a:pPr algn="l">
              <a:lnSpc>
                <a:spcPct val="110000"/>
              </a:lnSpc>
              <a:spcAft>
                <a:spcPts val="1200"/>
              </a:spcAft>
            </a:pPr>
            <a:r>
              <a:rPr sz="1250" b="1" i="0">
                <a:solidFill>
                  <a:srgbClr val="4FC3E8"/>
                </a:solidFill>
                <a:latin typeface="Consolas"/>
              </a:rPr>
              <a:t>1.  </a:t>
            </a:r>
            <a:r>
              <a:rPr sz="1250" b="0" i="0">
                <a:solidFill>
                  <a:srgbClr val="DDE6EC"/>
                </a:solidFill>
                <a:latin typeface="Calibri"/>
              </a:rPr>
              <a:t>Open a flagged storefront. The banner appears with the verdict.</a:t>
            </a:r>
          </a:p>
          <a:p>
            <a:pPr algn="l">
              <a:lnSpc>
                <a:spcPct val="110000"/>
              </a:lnSpc>
              <a:spcAft>
                <a:spcPts val="1200"/>
              </a:spcAft>
            </a:pPr>
            <a:r>
              <a:rPr sz="1250" b="1" i="0">
                <a:solidFill>
                  <a:srgbClr val="4FC3E8"/>
                </a:solidFill>
                <a:latin typeface="Consolas"/>
              </a:rPr>
              <a:t>2.  </a:t>
            </a:r>
            <a:r>
              <a:rPr sz="1250" b="0" i="0">
                <a:solidFill>
                  <a:srgbClr val="DDE6EC"/>
                </a:solidFill>
                <a:latin typeface="Calibri"/>
              </a:rPr>
              <a:t>Show the price comparison. This is the moment that convinces people.</a:t>
            </a:r>
          </a:p>
          <a:p>
            <a:pPr algn="l">
              <a:lnSpc>
                <a:spcPct val="110000"/>
              </a:lnSpc>
              <a:spcAft>
                <a:spcPts val="1200"/>
              </a:spcAft>
            </a:pPr>
            <a:r>
              <a:rPr sz="1250" b="1" i="0">
                <a:solidFill>
                  <a:srgbClr val="4FC3E8"/>
                </a:solidFill>
                <a:latin typeface="Consolas"/>
              </a:rPr>
              <a:t>3.  </a:t>
            </a:r>
            <a:r>
              <a:rPr sz="1250" b="0" i="0">
                <a:solidFill>
                  <a:srgbClr val="DDE6EC"/>
                </a:solidFill>
                <a:latin typeface="Calibri"/>
              </a:rPr>
              <a:t>Open a legitimate Israeli shop. Nothing happens. Staying quiet is the hard part.</a:t>
            </a:r>
          </a:p>
          <a:p>
            <a:pPr algn="l">
              <a:lnSpc>
                <a:spcPct val="110000"/>
              </a:lnSpc>
              <a:spcAft>
                <a:spcPts val="1200"/>
              </a:spcAft>
            </a:pPr>
            <a:r>
              <a:rPr sz="1250" b="1" i="0">
                <a:solidFill>
                  <a:srgbClr val="4FC3E8"/>
                </a:solidFill>
                <a:latin typeface="Consolas"/>
              </a:rPr>
              <a:t>4.  </a:t>
            </a:r>
            <a:r>
              <a:rPr sz="1250" b="0" i="0">
                <a:solidFill>
                  <a:srgbClr val="DDE6EC"/>
                </a:solidFill>
                <a:latin typeface="Calibri"/>
              </a:rPr>
              <a:t>Open the popup for the assessment and the evidence behind it.</a:t>
            </a:r>
          </a:p>
          <a:p>
            <a:pPr algn="l">
              <a:lnSpc>
                <a:spcPct val="110000"/>
              </a:lnSpc>
              <a:spcAft>
                <a:spcPts val="1200"/>
              </a:spcAft>
            </a:pPr>
            <a:r>
              <a:rPr sz="1250" b="1" i="0">
                <a:solidFill>
                  <a:srgbClr val="4FC3E8"/>
                </a:solidFill>
                <a:latin typeface="Consolas"/>
              </a:rPr>
              <a:t>5.  </a:t>
            </a:r>
            <a:r>
              <a:rPr sz="1250" b="0" i="0">
                <a:solidFill>
                  <a:srgbClr val="DDE6EC"/>
                </a:solidFill>
                <a:latin typeface="Calibri"/>
              </a:rPr>
              <a:t>Show the same thing running in Safari on iPhone.</a:t>
            </a:r>
          </a:p>
        </p:txBody>
      </p:sp>
      <p:sp>
        <p:nvSpPr>
          <p:cNvPr id="5" name="Rounded Rectangle 4"/>
          <p:cNvSpPr/>
          <p:nvPr/>
        </p:nvSpPr>
        <p:spPr>
          <a:xfrm>
            <a:off x="8092440" y="1737360"/>
            <a:ext cx="3602736" cy="2951141"/>
          </a:xfrm>
          <a:prstGeom prst="roundRect">
            <a:avLst>
              <a:gd name="adj" fmla="val 4000"/>
            </a:avLst>
          </a:prstGeom>
          <a:solidFill>
            <a:srgbClr val="FFFFF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7.jpg"/>
          <p:cNvPicPr>
            <a:picLocks noChangeAspect="1"/>
          </p:cNvPicPr>
          <p:nvPr/>
        </p:nvPicPr>
        <p:blipFill>
          <a:blip r:embed="rId2"/>
          <a:stretch>
            <a:fillRect/>
          </a:stretch>
        </p:blipFill>
        <p:spPr>
          <a:xfrm>
            <a:off x="8202168" y="1847088"/>
            <a:ext cx="3383280" cy="2731685"/>
          </a:xfrm>
          <a:prstGeom prst="rect">
            <a:avLst/>
          </a:prstGeom>
        </p:spPr>
      </p:pic>
      <p:sp>
        <p:nvSpPr>
          <p:cNvPr id="7" name="TextBox 6"/>
          <p:cNvSpPr txBox="1"/>
          <p:nvPr/>
        </p:nvSpPr>
        <p:spPr>
          <a:xfrm>
            <a:off x="11475720" y="6419088"/>
            <a:ext cx="411480" cy="274320"/>
          </a:xfrm>
          <a:prstGeom prst="rect">
            <a:avLst/>
          </a:prstGeom>
          <a:noFill/>
        </p:spPr>
        <p:txBody>
          <a:bodyPr wrap="square" lIns="0" rIns="0" tIns="0" bIns="0">
            <a:spAutoFit/>
          </a:bodyPr>
          <a:lstStyle/>
          <a:p>
            <a:pPr algn="r">
              <a:lnSpc>
                <a:spcPct val="100000"/>
              </a:lnSpc>
              <a:spcAft>
                <a:spcPts val="600"/>
              </a:spcAft>
            </a:pPr>
            <a:r>
              <a:rPr sz="900" b="0" i="0">
                <a:solidFill>
                  <a:srgbClr val="8A9BA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lIns="0" rIns="0" tIns="0" bIns="0">
            <a:spAutoFit/>
          </a:bodyPr>
          <a:lstStyle/>
          <a:p>
            <a:pPr algn="l">
              <a:lnSpc>
                <a:spcPct val="100000"/>
              </a:lnSpc>
              <a:spcAft>
                <a:spcPts val="600"/>
              </a:spcAft>
            </a:pPr>
            <a:r>
              <a:rPr sz="1050" b="1" i="0">
                <a:solidFill>
                  <a:srgbClr val="1B6E8F"/>
                </a:solidFill>
                <a:latin typeface="Consolas"/>
              </a:rPr>
              <a:t>MARKET</a:t>
            </a:r>
          </a:p>
        </p:txBody>
      </p:sp>
      <p:sp>
        <p:nvSpPr>
          <p:cNvPr id="3" name="TextBox 2"/>
          <p:cNvSpPr txBox="1"/>
          <p:nvPr/>
        </p:nvSpPr>
        <p:spPr>
          <a:xfrm>
            <a:off x="594360" y="658368"/>
            <a:ext cx="11000232" cy="594360"/>
          </a:xfrm>
          <a:prstGeom prst="rect">
            <a:avLst/>
          </a:prstGeom>
          <a:noFill/>
        </p:spPr>
        <p:txBody>
          <a:bodyPr wrap="square" lIns="0" rIns="0" tIns="0" bIns="0">
            <a:spAutoFit/>
          </a:bodyPr>
          <a:lstStyle/>
          <a:p>
            <a:pPr algn="l">
              <a:lnSpc>
                <a:spcPct val="100000"/>
              </a:lnSpc>
              <a:spcAft>
                <a:spcPts val="600"/>
              </a:spcAft>
            </a:pPr>
            <a:r>
              <a:rPr sz="3000" b="1" i="0">
                <a:solidFill>
                  <a:srgbClr val="13324B"/>
                </a:solidFill>
                <a:latin typeface="Georgia"/>
              </a:rPr>
              <a:t>Sized from what we can defend</a:t>
            </a:r>
          </a:p>
        </p:txBody>
      </p:sp>
      <p:sp>
        <p:nvSpPr>
          <p:cNvPr id="4" name="Rectangle 3"/>
          <p:cNvSpPr/>
          <p:nvPr/>
        </p:nvSpPr>
        <p:spPr>
          <a:xfrm>
            <a:off x="594360" y="1207008"/>
            <a:ext cx="11000232" cy="10160"/>
          </a:xfrm>
          <a:prstGeom prst="rect">
            <a:avLst/>
          </a:prstGeom>
          <a:solidFill>
            <a:srgbClr val="DD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00200"/>
            <a:ext cx="6035040" cy="3840480"/>
          </a:xfrm>
          <a:prstGeom prst="rect">
            <a:avLst/>
          </a:prstGeom>
          <a:noFill/>
        </p:spPr>
        <p:txBody>
          <a:bodyPr wrap="square" lIns="0" rIns="0" tIns="0" bIns="0">
            <a:spAutoFit/>
          </a:bodyPr>
          <a:lstStyle/>
          <a:p>
            <a:pPr algn="l">
              <a:lnSpc>
                <a:spcPct val="115000"/>
              </a:lnSpc>
              <a:spcAft>
                <a:spcPts val="1400"/>
              </a:spcAft>
            </a:pPr>
            <a:r>
              <a:rPr sz="1250" b="1" i="0">
                <a:solidFill>
                  <a:srgbClr val="33475B"/>
                </a:solidFill>
                <a:latin typeface="Calibri"/>
              </a:rPr>
              <a:t>11,707 advertisers </a:t>
            </a:r>
            <a:r>
              <a:rPr sz="1250" b="0" i="0">
                <a:solidFill>
                  <a:srgbClr val="33475B"/>
                </a:solidFill>
                <a:latin typeface="Calibri"/>
              </a:rPr>
              <a:t>targeting Israeli consumers identified from just six Hebrew keywords. The keyword list is trivially extensible, so this is a floor and not a ceiling.</a:t>
            </a:r>
          </a:p>
          <a:p>
            <a:pPr algn="l">
              <a:lnSpc>
                <a:spcPct val="115000"/>
              </a:lnSpc>
              <a:spcAft>
                <a:spcPts val="1400"/>
              </a:spcAft>
            </a:pPr>
            <a:r>
              <a:rPr sz="1250" b="1" i="0">
                <a:solidFill>
                  <a:srgbClr val="33475B"/>
                </a:solidFill>
                <a:latin typeface="Calibri"/>
              </a:rPr>
              <a:t>The user base </a:t>
            </a:r>
            <a:r>
              <a:rPr sz="1250" b="0" i="0">
                <a:solidFill>
                  <a:srgbClr val="33475B"/>
                </a:solidFill>
                <a:latin typeface="Calibri"/>
              </a:rPr>
              <a:t>is Israeli internet users who shop online and meet social advertising, which is most of the adult online population. Realistic early adoption is those already burned once.</a:t>
            </a:r>
          </a:p>
          <a:p>
            <a:pPr algn="l">
              <a:lnSpc>
                <a:spcPct val="115000"/>
              </a:lnSpc>
              <a:spcAft>
                <a:spcPts val="1400"/>
              </a:spcAft>
            </a:pPr>
            <a:r>
              <a:rPr sz="1250" b="1" i="0">
                <a:solidFill>
                  <a:srgbClr val="33475B"/>
                </a:solidFill>
                <a:latin typeface="Calibri"/>
              </a:rPr>
              <a:t>The model travels. </a:t>
            </a:r>
            <a:r>
              <a:rPr sz="1250" b="0" i="0">
                <a:solidFill>
                  <a:srgbClr val="33475B"/>
                </a:solidFill>
                <a:latin typeface="Calibri"/>
              </a:rPr>
              <a:t>Nothing in the architecture is specific to Israel. Another country is a new keyword list and a new trusted-domain list, not a rebuild.</a:t>
            </a:r>
          </a:p>
        </p:txBody>
      </p:sp>
      <p:sp>
        <p:nvSpPr>
          <p:cNvPr id="6" name="Rounded Rectangle 5"/>
          <p:cNvSpPr/>
          <p:nvPr/>
        </p:nvSpPr>
        <p:spPr>
          <a:xfrm>
            <a:off x="6995160" y="1554480"/>
            <a:ext cx="4599432" cy="356616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96328" y="1719072"/>
            <a:ext cx="4197096" cy="3236976"/>
          </a:xfrm>
          <a:prstGeom prst="rect">
            <a:avLst/>
          </a:prstGeom>
          <a:noFill/>
        </p:spPr>
        <p:txBody>
          <a:bodyPr wrap="square" lIns="0" rIns="0" tIns="0" bIns="0">
            <a:spAutoFit/>
          </a:bodyPr>
          <a:lstStyle/>
          <a:p>
            <a:pPr algn="l">
              <a:lnSpc>
                <a:spcPct val="112000"/>
              </a:lnSpc>
              <a:spcAft>
                <a:spcPts val="900"/>
              </a:spcAft>
            </a:pPr>
            <a:r>
              <a:rPr sz="1000" b="1" i="0">
                <a:solidFill>
                  <a:srgbClr val="1B6E8F"/>
                </a:solidFill>
                <a:latin typeface="Consolas"/>
              </a:rPr>
              <a:t>IF PURSUED COMMERCIALLY</a:t>
            </a:r>
          </a:p>
          <a:p>
            <a:pPr algn="l">
              <a:lnSpc>
                <a:spcPct val="112000"/>
              </a:lnSpc>
              <a:spcAft>
                <a:spcPts val="900"/>
              </a:spcAft>
            </a:pPr>
            <a:r>
              <a:rPr sz="1100" b="1" i="0">
                <a:solidFill>
                  <a:srgbClr val="1B6E8F"/>
                </a:solidFill>
                <a:latin typeface="Calibri"/>
              </a:rPr>
              <a:t>•  </a:t>
            </a:r>
            <a:r>
              <a:rPr sz="1100" b="0" i="0">
                <a:solidFill>
                  <a:srgbClr val="33475B"/>
                </a:solidFill>
                <a:latin typeface="Calibri"/>
              </a:rPr>
              <a:t>Freemium, with advanced checks for paying users</a:t>
            </a:r>
          </a:p>
          <a:p>
            <a:pPr algn="l">
              <a:lnSpc>
                <a:spcPct val="112000"/>
              </a:lnSpc>
              <a:spcAft>
                <a:spcPts val="900"/>
              </a:spcAft>
            </a:pPr>
            <a:r>
              <a:rPr sz="1100" b="1" i="0">
                <a:solidFill>
                  <a:srgbClr val="1B6E8F"/>
                </a:solidFill>
                <a:latin typeface="Calibri"/>
              </a:rPr>
              <a:t>•  </a:t>
            </a:r>
            <a:r>
              <a:rPr sz="1100" b="0" i="0">
                <a:solidFill>
                  <a:srgbClr val="33475B"/>
                </a:solidFill>
                <a:latin typeface="Calibri"/>
              </a:rPr>
              <a:t>Licensing the risk database to consumer bodies, payment providers and card issuers who absorb these disputes</a:t>
            </a:r>
          </a:p>
          <a:p>
            <a:pPr algn="l">
              <a:lnSpc>
                <a:spcPct val="112000"/>
              </a:lnSpc>
              <a:spcAft>
                <a:spcPts val="900"/>
              </a:spcAft>
            </a:pPr>
            <a:r>
              <a:rPr sz="1100" b="1" i="0">
                <a:solidFill>
                  <a:srgbClr val="1B6E8F"/>
                </a:solidFill>
                <a:latin typeface="Calibri"/>
              </a:rPr>
              <a:t>•  </a:t>
            </a:r>
            <a:r>
              <a:rPr sz="1100" b="0" i="0">
                <a:solidFill>
                  <a:srgbClr val="33475B"/>
                </a:solidFill>
                <a:latin typeface="Calibri"/>
              </a:rPr>
              <a:t>Partnership with marketplaces wanting to separate themselves from deceptive sellers</a:t>
            </a:r>
          </a:p>
          <a:p>
            <a:pPr algn="l">
              <a:lnSpc>
                <a:spcPct val="112000"/>
              </a:lnSpc>
              <a:spcAft>
                <a:spcPts val="900"/>
              </a:spcAft>
            </a:pPr>
            <a:r>
              <a:rPr sz="1100" b="1" i="0">
                <a:solidFill>
                  <a:srgbClr val="33475B"/>
                </a:solidFill>
                <a:latin typeface="Calibri"/>
              </a:rPr>
              <a:t>No affiliate revenue. It would compromise independence.</a:t>
            </a:r>
          </a:p>
        </p:txBody>
      </p:sp>
      <p:sp>
        <p:nvSpPr>
          <p:cNvPr id="8" name="TextBox 7"/>
          <p:cNvSpPr txBox="1"/>
          <p:nvPr/>
        </p:nvSpPr>
        <p:spPr>
          <a:xfrm>
            <a:off x="594360" y="6419088"/>
            <a:ext cx="9601200" cy="274320"/>
          </a:xfrm>
          <a:prstGeom prst="rect">
            <a:avLst/>
          </a:prstGeom>
          <a:noFill/>
        </p:spPr>
        <p:txBody>
          <a:bodyPr wrap="square" lIns="0" rIns="0" tIns="0" bIns="0">
            <a:spAutoFit/>
          </a:bodyPr>
          <a:lstStyle/>
          <a:p>
            <a:pPr algn="l">
              <a:lnSpc>
                <a:spcPct val="100000"/>
              </a:lnSpc>
              <a:spcAft>
                <a:spcPts val="600"/>
              </a:spcAft>
            </a:pPr>
            <a:r>
              <a:rPr sz="900" b="0" i="1">
                <a:solidFill>
                  <a:srgbClr val="8A9BA8"/>
                </a:solidFill>
                <a:latin typeface="Calibri"/>
              </a:rPr>
              <a:t>Currently a non-commercial academic project, free to use.</a:t>
            </a:r>
          </a:p>
        </p:txBody>
      </p:sp>
      <p:sp>
        <p:nvSpPr>
          <p:cNvPr id="9" name="TextBox 8"/>
          <p:cNvSpPr txBox="1"/>
          <p:nvPr/>
        </p:nvSpPr>
        <p:spPr>
          <a:xfrm>
            <a:off x="11475720" y="6419088"/>
            <a:ext cx="411480" cy="274320"/>
          </a:xfrm>
          <a:prstGeom prst="rect">
            <a:avLst/>
          </a:prstGeom>
          <a:noFill/>
        </p:spPr>
        <p:txBody>
          <a:bodyPr wrap="square" lIns="0" rIns="0" tIns="0" bIns="0">
            <a:spAutoFit/>
          </a:bodyPr>
          <a:lstStyle/>
          <a:p>
            <a:pPr algn="r">
              <a:lnSpc>
                <a:spcPct val="100000"/>
              </a:lnSpc>
              <a:spcAft>
                <a:spcPts val="600"/>
              </a:spcAft>
            </a:pPr>
            <a:r>
              <a:rPr sz="900" b="0" i="0">
                <a:solidFill>
                  <a:srgbClr val="8A9BA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lIns="0" rIns="0" tIns="0" bIns="0">
            <a:spAutoFit/>
          </a:bodyPr>
          <a:lstStyle/>
          <a:p>
            <a:pPr algn="l">
              <a:lnSpc>
                <a:spcPct val="100000"/>
              </a:lnSpc>
              <a:spcAft>
                <a:spcPts val="600"/>
              </a:spcAft>
            </a:pPr>
            <a:r>
              <a:rPr sz="1050" b="1" i="0">
                <a:solidFill>
                  <a:srgbClr val="1B6E8F"/>
                </a:solidFill>
                <a:latin typeface="Consolas"/>
              </a:rPr>
              <a:t>COMPETITORS AND DIFFERENTIATION</a:t>
            </a:r>
          </a:p>
        </p:txBody>
      </p:sp>
      <p:sp>
        <p:nvSpPr>
          <p:cNvPr id="3" name="TextBox 2"/>
          <p:cNvSpPr txBox="1"/>
          <p:nvPr/>
        </p:nvSpPr>
        <p:spPr>
          <a:xfrm>
            <a:off x="594360" y="658368"/>
            <a:ext cx="11000232" cy="594360"/>
          </a:xfrm>
          <a:prstGeom prst="rect">
            <a:avLst/>
          </a:prstGeom>
          <a:noFill/>
        </p:spPr>
        <p:txBody>
          <a:bodyPr wrap="square" lIns="0" rIns="0" tIns="0" bIns="0">
            <a:spAutoFit/>
          </a:bodyPr>
          <a:lstStyle/>
          <a:p>
            <a:pPr algn="l">
              <a:lnSpc>
                <a:spcPct val="100000"/>
              </a:lnSpc>
              <a:spcAft>
                <a:spcPts val="600"/>
              </a:spcAft>
            </a:pPr>
            <a:r>
              <a:rPr sz="3000" b="1" i="0">
                <a:solidFill>
                  <a:srgbClr val="13324B"/>
                </a:solidFill>
                <a:latin typeface="Georgia"/>
              </a:rPr>
              <a:t>Everything else arrives too late</a:t>
            </a:r>
          </a:p>
        </p:txBody>
      </p:sp>
      <p:sp>
        <p:nvSpPr>
          <p:cNvPr id="4" name="Rectangle 3"/>
          <p:cNvSpPr/>
          <p:nvPr/>
        </p:nvSpPr>
        <p:spPr>
          <a:xfrm>
            <a:off x="594360" y="1207008"/>
            <a:ext cx="11000232" cy="10160"/>
          </a:xfrm>
          <a:prstGeom prst="rect">
            <a:avLst/>
          </a:prstGeom>
          <a:solidFill>
            <a:srgbClr val="DD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94360" y="1463040"/>
          <a:ext cx="11000232" cy="3108960"/>
        </p:xfrm>
        <a:graphic>
          <a:graphicData uri="http://schemas.openxmlformats.org/drawingml/2006/table">
            <a:tbl>
              <a:tblPr firstRow="1" bandRow="1">
                <a:tableStyleId>{5C22544A-7EE6-4342-B048-85BDC9FD1C3A}</a:tableStyleId>
              </a:tblPr>
              <a:tblGrid>
                <a:gridCol w="3017520"/>
                <a:gridCol w="3017520"/>
                <a:gridCol w="4965192"/>
              </a:tblGrid>
              <a:tr h="444137">
                <a:tc>
                  <a:txBody>
                    <a:bodyPr/>
                    <a:lstStyle/>
                    <a:p>
                      <a:r>
                        <a:rPr sz="1000" b="1" i="0">
                          <a:solidFill>
                            <a:srgbClr val="FFFFFF"/>
                          </a:solidFill>
                          <a:latin typeface="Consolas"/>
                        </a:rPr>
                        <a:t>ALTERNATIVE</a:t>
                      </a:r>
                    </a:p>
                  </a:txBody>
                  <a:tcPr marL="109728" marT="45720" marB="45720">
                    <a:solidFill>
                      <a:srgbClr val="13324B"/>
                    </a:solidFill>
                  </a:tcPr>
                </a:tc>
                <a:tc>
                  <a:txBody>
                    <a:bodyPr/>
                    <a:lstStyle/>
                    <a:p>
                      <a:r>
                        <a:rPr sz="1000" b="1" i="0">
                          <a:solidFill>
                            <a:srgbClr val="FFFFFF"/>
                          </a:solidFill>
                          <a:latin typeface="Consolas"/>
                        </a:rPr>
                        <a:t>WHAT IT DOES</a:t>
                      </a:r>
                    </a:p>
                  </a:txBody>
                  <a:tcPr marL="109728" marT="45720" marB="45720">
                    <a:solidFill>
                      <a:srgbClr val="13324B"/>
                    </a:solidFill>
                  </a:tcPr>
                </a:tc>
                <a:tc>
                  <a:txBody>
                    <a:bodyPr/>
                    <a:lstStyle/>
                    <a:p>
                      <a:r>
                        <a:rPr sz="1000" b="1" i="0">
                          <a:solidFill>
                            <a:srgbClr val="FFFFFF"/>
                          </a:solidFill>
                          <a:latin typeface="Consolas"/>
                        </a:rPr>
                        <a:t>WHY IT FALLS SHORT HERE</a:t>
                      </a:r>
                    </a:p>
                  </a:txBody>
                  <a:tcPr marL="109728" marT="45720" marB="45720">
                    <a:solidFill>
                      <a:srgbClr val="13324B"/>
                    </a:solidFill>
                  </a:tcPr>
                </a:tc>
              </a:tr>
              <a:tr h="444137">
                <a:tc>
                  <a:txBody>
                    <a:bodyPr/>
                    <a:lstStyle/>
                    <a:p>
                      <a:r>
                        <a:rPr sz="1050" b="1" i="0">
                          <a:solidFill>
                            <a:srgbClr val="13324B"/>
                          </a:solidFill>
                          <a:latin typeface="Calibri"/>
                        </a:rPr>
                        <a:t>Scamadviser, WOT</a:t>
                      </a:r>
                    </a:p>
                  </a:txBody>
                  <a:tcPr marL="109728" marT="36576" marB="36576" anchor="ctr">
                    <a:solidFill>
                      <a:srgbClr val="FFFFFF"/>
                    </a:solidFill>
                  </a:tcPr>
                </a:tc>
                <a:tc>
                  <a:txBody>
                    <a:bodyPr/>
                    <a:lstStyle/>
                    <a:p>
                      <a:r>
                        <a:rPr sz="1050" b="0" i="0">
                          <a:solidFill>
                            <a:srgbClr val="33475B"/>
                          </a:solidFill>
                          <a:latin typeface="Calibri"/>
                        </a:rPr>
                        <a:t>Domain reputation scores</a:t>
                      </a:r>
                    </a:p>
                  </a:txBody>
                  <a:tcPr marL="109728" marT="36576" marB="36576" anchor="ctr">
                    <a:solidFill>
                      <a:srgbClr val="FFFFFF"/>
                    </a:solidFill>
                  </a:tcPr>
                </a:tc>
                <a:tc>
                  <a:txBody>
                    <a:bodyPr/>
                    <a:lstStyle/>
                    <a:p>
                      <a:r>
                        <a:rPr sz="1050" b="0" i="0">
                          <a:solidFill>
                            <a:srgbClr val="33475B"/>
                          </a:solidFill>
                          <a:latin typeface="Calibri"/>
                        </a:rPr>
                        <a:t>Need accumulated history. A new storefront is unrated</a:t>
                      </a:r>
                    </a:p>
                  </a:txBody>
                  <a:tcPr marL="109728" marT="36576" marB="36576" anchor="ctr">
                    <a:solidFill>
                      <a:srgbClr val="FFFFFF"/>
                    </a:solidFill>
                  </a:tcPr>
                </a:tc>
              </a:tr>
              <a:tr h="444137">
                <a:tc>
                  <a:txBody>
                    <a:bodyPr/>
                    <a:lstStyle/>
                    <a:p>
                      <a:r>
                        <a:rPr sz="1050" b="1" i="0">
                          <a:solidFill>
                            <a:srgbClr val="13324B"/>
                          </a:solidFill>
                          <a:latin typeface="Calibri"/>
                        </a:rPr>
                        <a:t>Chrome and Safari safe browsing</a:t>
                      </a:r>
                    </a:p>
                  </a:txBody>
                  <a:tcPr marL="109728" marT="36576" marB="36576" anchor="ctr">
                    <a:solidFill>
                      <a:srgbClr val="EFF4F7"/>
                    </a:solidFill>
                  </a:tcPr>
                </a:tc>
                <a:tc>
                  <a:txBody>
                    <a:bodyPr/>
                    <a:lstStyle/>
                    <a:p>
                      <a:r>
                        <a:rPr sz="1050" b="0" i="0">
                          <a:solidFill>
                            <a:srgbClr val="33475B"/>
                          </a:solidFill>
                          <a:latin typeface="Calibri"/>
                        </a:rPr>
                        <a:t>Malware and phishing blocking</a:t>
                      </a:r>
                    </a:p>
                  </a:txBody>
                  <a:tcPr marL="109728" marT="36576" marB="36576" anchor="ctr">
                    <a:solidFill>
                      <a:srgbClr val="EFF4F7"/>
                    </a:solidFill>
                  </a:tcPr>
                </a:tc>
                <a:tc>
                  <a:txBody>
                    <a:bodyPr/>
                    <a:lstStyle/>
                    <a:p>
                      <a:r>
                        <a:rPr sz="1050" b="0" i="0">
                          <a:solidFill>
                            <a:srgbClr val="33475B"/>
                          </a:solidFill>
                          <a:latin typeface="Calibri"/>
                        </a:rPr>
                        <a:t>A dropshipper is not malware. It ships a real product</a:t>
                      </a:r>
                    </a:p>
                  </a:txBody>
                  <a:tcPr marL="109728" marT="36576" marB="36576" anchor="ctr">
                    <a:solidFill>
                      <a:srgbClr val="EFF4F7"/>
                    </a:solidFill>
                  </a:tcPr>
                </a:tc>
              </a:tr>
              <a:tr h="444137">
                <a:tc>
                  <a:txBody>
                    <a:bodyPr/>
                    <a:lstStyle/>
                    <a:p>
                      <a:r>
                        <a:rPr sz="1050" b="1" i="0">
                          <a:solidFill>
                            <a:srgbClr val="13324B"/>
                          </a:solidFill>
                          <a:latin typeface="Calibri"/>
                        </a:rPr>
                        <a:t>Trustpilot, Google Reviews</a:t>
                      </a:r>
                    </a:p>
                  </a:txBody>
                  <a:tcPr marL="109728" marT="36576" marB="36576" anchor="ctr">
                    <a:solidFill>
                      <a:srgbClr val="FFFFFF"/>
                    </a:solidFill>
                  </a:tcPr>
                </a:tc>
                <a:tc>
                  <a:txBody>
                    <a:bodyPr/>
                    <a:lstStyle/>
                    <a:p>
                      <a:r>
                        <a:rPr sz="1050" b="0" i="0">
                          <a:solidFill>
                            <a:srgbClr val="33475B"/>
                          </a:solidFill>
                          <a:latin typeface="Calibri"/>
                        </a:rPr>
                        <a:t>Customer review aggregation</a:t>
                      </a:r>
                    </a:p>
                  </a:txBody>
                  <a:tcPr marL="109728" marT="36576" marB="36576" anchor="ctr">
                    <a:solidFill>
                      <a:srgbClr val="FFFFFF"/>
                    </a:solidFill>
                  </a:tcPr>
                </a:tc>
                <a:tc>
                  <a:txBody>
                    <a:bodyPr/>
                    <a:lstStyle/>
                    <a:p>
                      <a:r>
                        <a:rPr sz="1050" b="0" i="0">
                          <a:solidFill>
                            <a:srgbClr val="33475B"/>
                          </a:solidFill>
                          <a:latin typeface="Calibri"/>
                        </a:rPr>
                        <a:t>Lag by definition, and are widely gamed</a:t>
                      </a:r>
                    </a:p>
                  </a:txBody>
                  <a:tcPr marL="109728" marT="36576" marB="36576" anchor="ctr">
                    <a:solidFill>
                      <a:srgbClr val="FFFFFF"/>
                    </a:solidFill>
                  </a:tcPr>
                </a:tc>
              </a:tr>
              <a:tr h="444137">
                <a:tc>
                  <a:txBody>
                    <a:bodyPr/>
                    <a:lstStyle/>
                    <a:p>
                      <a:r>
                        <a:rPr sz="1050" b="1" i="0">
                          <a:solidFill>
                            <a:srgbClr val="13324B"/>
                          </a:solidFill>
                          <a:latin typeface="Calibri"/>
                        </a:rPr>
                        <a:t>Israeli Facebook groups</a:t>
                      </a:r>
                    </a:p>
                  </a:txBody>
                  <a:tcPr marL="109728" marT="36576" marB="36576" anchor="ctr">
                    <a:solidFill>
                      <a:srgbClr val="EFF4F7"/>
                    </a:solidFill>
                  </a:tcPr>
                </a:tc>
                <a:tc>
                  <a:txBody>
                    <a:bodyPr/>
                    <a:lstStyle/>
                    <a:p>
                      <a:r>
                        <a:rPr sz="1050" b="0" i="0">
                          <a:solidFill>
                            <a:srgbClr val="33475B"/>
                          </a:solidFill>
                          <a:latin typeface="Calibri"/>
                        </a:rPr>
                        <a:t>Members warn each other</a:t>
                      </a:r>
                    </a:p>
                  </a:txBody>
                  <a:tcPr marL="109728" marT="36576" marB="36576" anchor="ctr">
                    <a:solidFill>
                      <a:srgbClr val="EFF4F7"/>
                    </a:solidFill>
                  </a:tcPr>
                </a:tc>
                <a:tc>
                  <a:txBody>
                    <a:bodyPr/>
                    <a:lstStyle/>
                    <a:p>
                      <a:r>
                        <a:rPr sz="1050" b="0" i="0">
                          <a:solidFill>
                            <a:srgbClr val="33475B"/>
                          </a:solidFill>
                          <a:latin typeface="Calibri"/>
                        </a:rPr>
                        <a:t>Manual, reactive, not searchable while you shop</a:t>
                      </a:r>
                    </a:p>
                  </a:txBody>
                  <a:tcPr marL="109728" marT="36576" marB="36576" anchor="ctr">
                    <a:solidFill>
                      <a:srgbClr val="EFF4F7"/>
                    </a:solidFill>
                  </a:tcPr>
                </a:tc>
              </a:tr>
              <a:tr h="444137">
                <a:tc>
                  <a:txBody>
                    <a:bodyPr/>
                    <a:lstStyle/>
                    <a:p>
                      <a:r>
                        <a:rPr sz="1050" b="1" i="0">
                          <a:solidFill>
                            <a:srgbClr val="13324B"/>
                          </a:solidFill>
                          <a:latin typeface="Calibri"/>
                        </a:rPr>
                        <a:t>Zap and price comparison</a:t>
                      </a:r>
                    </a:p>
                  </a:txBody>
                  <a:tcPr marL="109728" marT="36576" marB="36576" anchor="ctr">
                    <a:solidFill>
                      <a:srgbClr val="FFFFFF"/>
                    </a:solidFill>
                  </a:tcPr>
                </a:tc>
                <a:tc>
                  <a:txBody>
                    <a:bodyPr/>
                    <a:lstStyle/>
                    <a:p>
                      <a:r>
                        <a:rPr sz="1050" b="0" i="0">
                          <a:solidFill>
                            <a:srgbClr val="33475B"/>
                          </a:solidFill>
                          <a:latin typeface="Calibri"/>
                        </a:rPr>
                        <a:t>Compare known retailers</a:t>
                      </a:r>
                    </a:p>
                  </a:txBody>
                  <a:tcPr marL="109728" marT="36576" marB="36576" anchor="ctr">
                    <a:solidFill>
                      <a:srgbClr val="FFFFFF"/>
                    </a:solidFill>
                  </a:tcPr>
                </a:tc>
                <a:tc>
                  <a:txBody>
                    <a:bodyPr/>
                    <a:lstStyle/>
                    <a:p>
                      <a:r>
                        <a:rPr sz="1050" b="0" i="0">
                          <a:solidFill>
                            <a:srgbClr val="33475B"/>
                          </a:solidFill>
                          <a:latin typeface="Calibri"/>
                        </a:rPr>
                        <a:t>Unknown dropshipping domains are not in the catalogue</a:t>
                      </a:r>
                    </a:p>
                  </a:txBody>
                  <a:tcPr marL="109728" marT="36576" marB="36576" anchor="ctr">
                    <a:solidFill>
                      <a:srgbClr val="FFFFFF"/>
                    </a:solidFill>
                  </a:tcPr>
                </a:tc>
              </a:tr>
              <a:tr h="444138">
                <a:tc>
                  <a:txBody>
                    <a:bodyPr/>
                    <a:lstStyle/>
                    <a:p>
                      <a:r>
                        <a:rPr sz="1050" b="1" i="0">
                          <a:solidFill>
                            <a:srgbClr val="13324B"/>
                          </a:solidFill>
                          <a:latin typeface="Calibri"/>
                        </a:rPr>
                        <a:t>Honey and shopping tools</a:t>
                      </a:r>
                    </a:p>
                  </a:txBody>
                  <a:tcPr marL="109728" marT="36576" marB="36576" anchor="ctr">
                    <a:solidFill>
                      <a:srgbClr val="EFF4F7"/>
                    </a:solidFill>
                  </a:tcPr>
                </a:tc>
                <a:tc>
                  <a:txBody>
                    <a:bodyPr/>
                    <a:lstStyle/>
                    <a:p>
                      <a:r>
                        <a:rPr sz="1050" b="0" i="0">
                          <a:solidFill>
                            <a:srgbClr val="33475B"/>
                          </a:solidFill>
                          <a:latin typeface="Calibri"/>
                        </a:rPr>
                        <a:t>Coupons and cashback</a:t>
                      </a:r>
                    </a:p>
                  </a:txBody>
                  <a:tcPr marL="109728" marT="36576" marB="36576" anchor="ctr">
                    <a:solidFill>
                      <a:srgbClr val="EFF4F7"/>
                    </a:solidFill>
                  </a:tcPr>
                </a:tc>
                <a:tc>
                  <a:txBody>
                    <a:bodyPr/>
                    <a:lstStyle/>
                    <a:p>
                      <a:r>
                        <a:rPr sz="1050" b="0" i="0">
                          <a:solidFill>
                            <a:srgbClr val="33475B"/>
                          </a:solidFill>
                          <a:latin typeface="Calibri"/>
                        </a:rPr>
                        <a:t>Aligned with completing the purchase, not preventing it</a:t>
                      </a:r>
                    </a:p>
                  </a:txBody>
                  <a:tcPr marL="109728" marT="36576" marB="36576" anchor="ctr">
                    <a:solidFill>
                      <a:srgbClr val="EFF4F7"/>
                    </a:solidFill>
                  </a:tcPr>
                </a:tc>
              </a:tr>
            </a:tbl>
          </a:graphicData>
        </a:graphic>
      </p:graphicFrame>
      <p:sp>
        <p:nvSpPr>
          <p:cNvPr id="6" name="Rounded Rectangle 5"/>
          <p:cNvSpPr/>
          <p:nvPr/>
        </p:nvSpPr>
        <p:spPr>
          <a:xfrm>
            <a:off x="594360" y="4892040"/>
            <a:ext cx="11000232" cy="1051560"/>
          </a:xfrm>
          <a:prstGeom prst="roundRect">
            <a:avLst>
              <a:gd name="adj" fmla="val 6000"/>
            </a:avLst>
          </a:prstGeom>
          <a:solidFill>
            <a:srgbClr val="DCE9F1"/>
          </a:solidFill>
          <a:ln w="9525">
            <a:solidFill>
              <a:srgbClr val="DCE9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5056632"/>
            <a:ext cx="10597896" cy="722376"/>
          </a:xfrm>
          <a:prstGeom prst="rect">
            <a:avLst/>
          </a:prstGeom>
          <a:noFill/>
        </p:spPr>
        <p:txBody>
          <a:bodyPr wrap="square" lIns="0" rIns="0" tIns="0" bIns="0">
            <a:spAutoFit/>
          </a:bodyPr>
          <a:lstStyle/>
          <a:p>
            <a:pPr algn="l">
              <a:lnSpc>
                <a:spcPct val="115000"/>
              </a:lnSpc>
              <a:spcAft>
                <a:spcPts val="400"/>
              </a:spcAft>
            </a:pPr>
            <a:r>
              <a:rPr sz="1200" b="1" i="0">
                <a:solidFill>
                  <a:srgbClr val="13324B"/>
                </a:solidFill>
                <a:latin typeface="Calibri"/>
              </a:rPr>
              <a:t>Our differentiation:  </a:t>
            </a:r>
            <a:r>
              <a:rPr sz="1200" b="0" i="0">
                <a:solidFill>
                  <a:srgbClr val="33475B"/>
                </a:solidFill>
                <a:latin typeface="Calibri"/>
              </a:rPr>
              <a:t>we find them at the point of customer acquisition, we prove the markup with a real price, and we do it without collecting the user’s browsing.</a:t>
            </a:r>
          </a:p>
        </p:txBody>
      </p:sp>
      <p:sp>
        <p:nvSpPr>
          <p:cNvPr id="8" name="TextBox 7"/>
          <p:cNvSpPr txBox="1"/>
          <p:nvPr/>
        </p:nvSpPr>
        <p:spPr>
          <a:xfrm>
            <a:off x="11475720" y="6419088"/>
            <a:ext cx="411480" cy="274320"/>
          </a:xfrm>
          <a:prstGeom prst="rect">
            <a:avLst/>
          </a:prstGeom>
          <a:noFill/>
        </p:spPr>
        <p:txBody>
          <a:bodyPr wrap="square" lIns="0" rIns="0" tIns="0" bIns="0">
            <a:spAutoFit/>
          </a:bodyPr>
          <a:lstStyle/>
          <a:p>
            <a:pPr algn="r">
              <a:lnSpc>
                <a:spcPct val="100000"/>
              </a:lnSpc>
              <a:spcAft>
                <a:spcPts val="600"/>
              </a:spcAft>
            </a:pPr>
            <a:r>
              <a:rPr sz="900" b="0" i="0">
                <a:solidFill>
                  <a:srgbClr val="8A9BA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lIns="0" rIns="0" tIns="0" bIns="0">
            <a:spAutoFit/>
          </a:bodyPr>
          <a:lstStyle/>
          <a:p>
            <a:pPr algn="l">
              <a:lnSpc>
                <a:spcPct val="100000"/>
              </a:lnSpc>
              <a:spcAft>
                <a:spcPts val="600"/>
              </a:spcAft>
            </a:pPr>
            <a:r>
              <a:rPr sz="1050" b="1" i="0">
                <a:solidFill>
                  <a:srgbClr val="1B6E8F"/>
                </a:solidFill>
                <a:latin typeface="Consolas"/>
              </a:rPr>
              <a:t>WHAT COMES NEXT</a:t>
            </a:r>
          </a:p>
        </p:txBody>
      </p:sp>
      <p:sp>
        <p:nvSpPr>
          <p:cNvPr id="3" name="TextBox 2"/>
          <p:cNvSpPr txBox="1"/>
          <p:nvPr/>
        </p:nvSpPr>
        <p:spPr>
          <a:xfrm>
            <a:off x="594360" y="658368"/>
            <a:ext cx="11000232" cy="594360"/>
          </a:xfrm>
          <a:prstGeom prst="rect">
            <a:avLst/>
          </a:prstGeom>
          <a:noFill/>
        </p:spPr>
        <p:txBody>
          <a:bodyPr wrap="square" lIns="0" rIns="0" tIns="0" bIns="0">
            <a:spAutoFit/>
          </a:bodyPr>
          <a:lstStyle/>
          <a:p>
            <a:pPr algn="l">
              <a:lnSpc>
                <a:spcPct val="100000"/>
              </a:lnSpc>
              <a:spcAft>
                <a:spcPts val="600"/>
              </a:spcAft>
            </a:pPr>
            <a:r>
              <a:rPr sz="3000" b="1" i="0">
                <a:solidFill>
                  <a:srgbClr val="13324B"/>
                </a:solidFill>
                <a:latin typeface="Georgia"/>
              </a:rPr>
              <a:t>Next steps</a:t>
            </a:r>
          </a:p>
        </p:txBody>
      </p:sp>
      <p:sp>
        <p:nvSpPr>
          <p:cNvPr id="4" name="Rectangle 3"/>
          <p:cNvSpPr/>
          <p:nvPr/>
        </p:nvSpPr>
        <p:spPr>
          <a:xfrm>
            <a:off x="594360" y="1207008"/>
            <a:ext cx="11000232" cy="10160"/>
          </a:xfrm>
          <a:prstGeom prst="rect">
            <a:avLst/>
          </a:prstGeom>
          <a:solidFill>
            <a:srgbClr val="DD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463040"/>
            <a:ext cx="5349240" cy="420624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627632"/>
            <a:ext cx="4946904" cy="3877056"/>
          </a:xfrm>
          <a:prstGeom prst="rect">
            <a:avLst/>
          </a:prstGeom>
          <a:noFill/>
        </p:spPr>
        <p:txBody>
          <a:bodyPr wrap="square" lIns="0" rIns="0" tIns="0" bIns="0">
            <a:spAutoFit/>
          </a:bodyPr>
          <a:lstStyle/>
          <a:p>
            <a:pPr algn="l">
              <a:lnSpc>
                <a:spcPct val="112000"/>
              </a:lnSpc>
              <a:spcAft>
                <a:spcPts val="1000"/>
              </a:spcAft>
            </a:pPr>
            <a:r>
              <a:rPr sz="1000" b="1" i="0">
                <a:solidFill>
                  <a:srgbClr val="1B6E8F"/>
                </a:solidFill>
                <a:latin typeface="Consolas"/>
              </a:rPr>
              <a:t>BUSINESS</a:t>
            </a:r>
          </a:p>
          <a:p>
            <a:pPr algn="l">
              <a:lnSpc>
                <a:spcPct val="112000"/>
              </a:lnSpc>
              <a:spcAft>
                <a:spcPts val="1000"/>
              </a:spcAft>
            </a:pPr>
            <a:r>
              <a:rPr sz="1150" b="1" i="0">
                <a:solidFill>
                  <a:srgbClr val="1B6E8F"/>
                </a:solidFill>
                <a:latin typeface="Calibri"/>
              </a:rPr>
              <a:t>•  </a:t>
            </a:r>
            <a:r>
              <a:rPr sz="1150" b="0" i="0">
                <a:solidFill>
                  <a:srgbClr val="33475B"/>
                </a:solidFill>
                <a:latin typeface="Calibri"/>
              </a:rPr>
              <a:t>Structured user research to complement the qualitative validation</a:t>
            </a:r>
          </a:p>
          <a:p>
            <a:pPr algn="l">
              <a:lnSpc>
                <a:spcPct val="112000"/>
              </a:lnSpc>
              <a:spcAft>
                <a:spcPts val="1000"/>
              </a:spcAft>
            </a:pPr>
            <a:r>
              <a:rPr sz="1150" b="1" i="0">
                <a:solidFill>
                  <a:srgbClr val="1B6E8F"/>
                </a:solidFill>
                <a:latin typeface="Calibri"/>
              </a:rPr>
              <a:t>•  </a:t>
            </a:r>
            <a:r>
              <a:rPr sz="1150" b="0" i="0">
                <a:solidFill>
                  <a:srgbClr val="33475B"/>
                </a:solidFill>
                <a:latin typeface="Calibri"/>
              </a:rPr>
              <a:t>Publish to the Chrome Web Store and the App Store</a:t>
            </a:r>
          </a:p>
          <a:p>
            <a:pPr algn="l">
              <a:lnSpc>
                <a:spcPct val="112000"/>
              </a:lnSpc>
              <a:spcAft>
                <a:spcPts val="1000"/>
              </a:spcAft>
            </a:pPr>
            <a:r>
              <a:rPr sz="1150" b="1" i="0">
                <a:solidFill>
                  <a:srgbClr val="1B6E8F"/>
                </a:solidFill>
                <a:latin typeface="Calibri"/>
              </a:rPr>
              <a:t>•  </a:t>
            </a:r>
            <a:r>
              <a:rPr sz="1150" b="0" i="0">
                <a:solidFill>
                  <a:srgbClr val="33475B"/>
                </a:solidFill>
                <a:latin typeface="Calibri"/>
              </a:rPr>
              <a:t>Seed the Israeli consumer protection communities where the pain already is</a:t>
            </a:r>
          </a:p>
          <a:p>
            <a:pPr algn="l">
              <a:lnSpc>
                <a:spcPct val="112000"/>
              </a:lnSpc>
              <a:spcAft>
                <a:spcPts val="1000"/>
              </a:spcAft>
            </a:pPr>
            <a:r>
              <a:rPr sz="1150" b="1" i="0">
                <a:solidFill>
                  <a:srgbClr val="1B6E8F"/>
                </a:solidFill>
                <a:latin typeface="Calibri"/>
              </a:rPr>
              <a:t>•  </a:t>
            </a:r>
            <a:r>
              <a:rPr sz="1150" b="0" i="0">
                <a:solidFill>
                  <a:srgbClr val="33475B"/>
                </a:solidFill>
                <a:latin typeface="Calibri"/>
              </a:rPr>
              <a:t>Partnerships with consumer bodies and journalists</a:t>
            </a:r>
          </a:p>
          <a:p>
            <a:pPr algn="l">
              <a:lnSpc>
                <a:spcPct val="112000"/>
              </a:lnSpc>
              <a:spcAft>
                <a:spcPts val="1000"/>
              </a:spcAft>
            </a:pPr>
            <a:r>
              <a:rPr sz="1150" b="1" i="0">
                <a:solidFill>
                  <a:srgbClr val="1B6E8F"/>
                </a:solidFill>
                <a:latin typeface="Calibri"/>
              </a:rPr>
              <a:t>•  </a:t>
            </a:r>
            <a:r>
              <a:rPr sz="1150" b="0" i="0">
                <a:solidFill>
                  <a:srgbClr val="33475B"/>
                </a:solidFill>
                <a:latin typeface="Calibri"/>
              </a:rPr>
              <a:t>Secure continuous funding for the analysis stage</a:t>
            </a:r>
          </a:p>
        </p:txBody>
      </p:sp>
      <p:sp>
        <p:nvSpPr>
          <p:cNvPr id="7" name="Rounded Rectangle 6"/>
          <p:cNvSpPr/>
          <p:nvPr/>
        </p:nvSpPr>
        <p:spPr>
          <a:xfrm>
            <a:off x="6245352" y="1463040"/>
            <a:ext cx="5349240" cy="420624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27632"/>
            <a:ext cx="4946904" cy="3877056"/>
          </a:xfrm>
          <a:prstGeom prst="rect">
            <a:avLst/>
          </a:prstGeom>
          <a:noFill/>
        </p:spPr>
        <p:txBody>
          <a:bodyPr wrap="square" lIns="0" rIns="0" tIns="0" bIns="0">
            <a:spAutoFit/>
          </a:bodyPr>
          <a:lstStyle/>
          <a:p>
            <a:pPr algn="l">
              <a:lnSpc>
                <a:spcPct val="112000"/>
              </a:lnSpc>
              <a:spcAft>
                <a:spcPts val="1000"/>
              </a:spcAft>
            </a:pPr>
            <a:r>
              <a:rPr sz="1000" b="1" i="0">
                <a:solidFill>
                  <a:srgbClr val="1B6E8F"/>
                </a:solidFill>
                <a:latin typeface="Consolas"/>
              </a:rPr>
              <a:t>TECHNOLOGICAL</a:t>
            </a:r>
          </a:p>
          <a:p>
            <a:pPr algn="l">
              <a:lnSpc>
                <a:spcPct val="112000"/>
              </a:lnSpc>
              <a:spcAft>
                <a:spcPts val="1000"/>
              </a:spcAft>
            </a:pPr>
            <a:r>
              <a:rPr sz="1150" b="1" i="0">
                <a:solidFill>
                  <a:srgbClr val="1B6E8F"/>
                </a:solidFill>
                <a:latin typeface="Calibri"/>
              </a:rPr>
              <a:t>•  </a:t>
            </a:r>
            <a:r>
              <a:rPr sz="1150" b="0" i="0">
                <a:solidFill>
                  <a:srgbClr val="33475B"/>
                </a:solidFill>
                <a:latin typeface="Calibri"/>
              </a:rPr>
              <a:t>Expand the keyword set to widen coverage of the advertiser population</a:t>
            </a:r>
          </a:p>
          <a:p>
            <a:pPr algn="l">
              <a:lnSpc>
                <a:spcPct val="112000"/>
              </a:lnSpc>
              <a:spcAft>
                <a:spcPts val="1000"/>
              </a:spcAft>
            </a:pPr>
            <a:r>
              <a:rPr sz="1150" b="1" i="0">
                <a:solidFill>
                  <a:srgbClr val="1B6E8F"/>
                </a:solidFill>
                <a:latin typeface="Calibri"/>
              </a:rPr>
              <a:t>•  </a:t>
            </a:r>
            <a:r>
              <a:rPr sz="1150" b="0" i="0">
                <a:solidFill>
                  <a:srgbClr val="33475B"/>
                </a:solidFill>
                <a:latin typeface="Calibri"/>
              </a:rPr>
              <a:t>Improve price matching coverage beyond the current 542 storefronts</a:t>
            </a:r>
          </a:p>
          <a:p>
            <a:pPr algn="l">
              <a:lnSpc>
                <a:spcPct val="112000"/>
              </a:lnSpc>
              <a:spcAft>
                <a:spcPts val="1000"/>
              </a:spcAft>
            </a:pPr>
            <a:r>
              <a:rPr sz="1150" b="1" i="0">
                <a:solidFill>
                  <a:srgbClr val="1B6E8F"/>
                </a:solidFill>
                <a:latin typeface="Calibri"/>
              </a:rPr>
              <a:t>•  </a:t>
            </a:r>
            <a:r>
              <a:rPr sz="1150" b="0" i="0">
                <a:solidFill>
                  <a:srgbClr val="33475B"/>
                </a:solidFill>
                <a:latin typeface="Calibri"/>
              </a:rPr>
              <a:t>Reduce the cost per analysis, the binding constraint on the project</a:t>
            </a:r>
          </a:p>
          <a:p>
            <a:pPr algn="l">
              <a:lnSpc>
                <a:spcPct val="112000"/>
              </a:lnSpc>
              <a:spcAft>
                <a:spcPts val="1000"/>
              </a:spcAft>
            </a:pPr>
            <a:r>
              <a:rPr sz="1150" b="1" i="0">
                <a:solidFill>
                  <a:srgbClr val="1B6E8F"/>
                </a:solidFill>
                <a:latin typeface="Calibri"/>
              </a:rPr>
              <a:t>•  </a:t>
            </a:r>
            <a:r>
              <a:rPr sz="1150" b="0" i="0">
                <a:solidFill>
                  <a:srgbClr val="33475B"/>
                </a:solidFill>
                <a:latin typeface="Calibri"/>
              </a:rPr>
              <a:t>Automated monitoring and alerting on pipeline failures</a:t>
            </a:r>
          </a:p>
          <a:p>
            <a:pPr algn="l">
              <a:lnSpc>
                <a:spcPct val="112000"/>
              </a:lnSpc>
              <a:spcAft>
                <a:spcPts val="1000"/>
              </a:spcAft>
            </a:pPr>
            <a:r>
              <a:rPr sz="1150" b="1" i="0">
                <a:solidFill>
                  <a:srgbClr val="1B6E8F"/>
                </a:solidFill>
                <a:latin typeface="Calibri"/>
              </a:rPr>
              <a:t>•  </a:t>
            </a:r>
            <a:r>
              <a:rPr sz="1150" b="0" i="0">
                <a:solidFill>
                  <a:srgbClr val="33475B"/>
                </a:solidFill>
                <a:latin typeface="Calibri"/>
              </a:rPr>
              <a:t>Feed community votes back into scoring more directly</a:t>
            </a:r>
          </a:p>
        </p:txBody>
      </p:sp>
      <p:sp>
        <p:nvSpPr>
          <p:cNvPr id="9" name="TextBox 8"/>
          <p:cNvSpPr txBox="1"/>
          <p:nvPr/>
        </p:nvSpPr>
        <p:spPr>
          <a:xfrm>
            <a:off x="11475720" y="6419088"/>
            <a:ext cx="411480" cy="274320"/>
          </a:xfrm>
          <a:prstGeom prst="rect">
            <a:avLst/>
          </a:prstGeom>
          <a:noFill/>
        </p:spPr>
        <p:txBody>
          <a:bodyPr wrap="square" lIns="0" rIns="0" tIns="0" bIns="0">
            <a:spAutoFit/>
          </a:bodyPr>
          <a:lstStyle/>
          <a:p>
            <a:pPr algn="r">
              <a:lnSpc>
                <a:spcPct val="100000"/>
              </a:lnSpc>
              <a:spcAft>
                <a:spcPts val="600"/>
              </a:spcAft>
            </a:pPr>
            <a:r>
              <a:rPr sz="900" b="0" i="0">
                <a:solidFill>
                  <a:srgbClr val="8A9BA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lIns="0" rIns="0" tIns="0" bIns="0">
            <a:spAutoFit/>
          </a:bodyPr>
          <a:lstStyle/>
          <a:p>
            <a:pPr algn="l">
              <a:lnSpc>
                <a:spcPct val="100000"/>
              </a:lnSpc>
              <a:spcAft>
                <a:spcPts val="600"/>
              </a:spcAft>
            </a:pPr>
            <a:r>
              <a:rPr sz="1050" b="1" i="0">
                <a:solidFill>
                  <a:srgbClr val="1B6E8F"/>
                </a:solidFill>
                <a:latin typeface="Consolas"/>
              </a:rPr>
              <a:t>TECHNOLOGY</a:t>
            </a:r>
          </a:p>
        </p:txBody>
      </p:sp>
      <p:sp>
        <p:nvSpPr>
          <p:cNvPr id="3" name="TextBox 2"/>
          <p:cNvSpPr txBox="1"/>
          <p:nvPr/>
        </p:nvSpPr>
        <p:spPr>
          <a:xfrm>
            <a:off x="594360" y="658368"/>
            <a:ext cx="11000232" cy="594360"/>
          </a:xfrm>
          <a:prstGeom prst="rect">
            <a:avLst/>
          </a:prstGeom>
          <a:noFill/>
        </p:spPr>
        <p:txBody>
          <a:bodyPr wrap="square" lIns="0" rIns="0" tIns="0" bIns="0">
            <a:spAutoFit/>
          </a:bodyPr>
          <a:lstStyle/>
          <a:p>
            <a:pPr algn="l">
              <a:lnSpc>
                <a:spcPct val="100000"/>
              </a:lnSpc>
              <a:spcAft>
                <a:spcPts val="600"/>
              </a:spcAft>
            </a:pPr>
            <a:r>
              <a:rPr sz="3000" b="1" i="0">
                <a:solidFill>
                  <a:srgbClr val="13324B"/>
                </a:solidFill>
                <a:latin typeface="Georgia"/>
              </a:rPr>
              <a:t>Key technologies and development tools</a:t>
            </a:r>
          </a:p>
        </p:txBody>
      </p:sp>
      <p:sp>
        <p:nvSpPr>
          <p:cNvPr id="4" name="Rectangle 3"/>
          <p:cNvSpPr/>
          <p:nvPr/>
        </p:nvSpPr>
        <p:spPr>
          <a:xfrm>
            <a:off x="594360" y="1207008"/>
            <a:ext cx="11000232" cy="10160"/>
          </a:xfrm>
          <a:prstGeom prst="rect">
            <a:avLst/>
          </a:prstGeom>
          <a:solidFill>
            <a:srgbClr val="DD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463040"/>
            <a:ext cx="3511296" cy="155448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627632"/>
            <a:ext cx="3108960" cy="1225296"/>
          </a:xfrm>
          <a:prstGeom prst="rect">
            <a:avLst/>
          </a:prstGeom>
          <a:noFill/>
        </p:spPr>
        <p:txBody>
          <a:bodyPr wrap="square" lIns="0" rIns="0" tIns="0" bIns="0">
            <a:spAutoFit/>
          </a:bodyPr>
          <a:lstStyle/>
          <a:p>
            <a:pPr algn="l">
              <a:lnSpc>
                <a:spcPct val="105000"/>
              </a:lnSpc>
              <a:spcAft>
                <a:spcPts val="300"/>
              </a:spcAft>
            </a:pPr>
            <a:r>
              <a:rPr sz="1000" b="1" i="0">
                <a:solidFill>
                  <a:srgbClr val="1B6E8F"/>
                </a:solidFill>
                <a:latin typeface="Consolas"/>
              </a:rPr>
              <a:t>BACKEND</a:t>
            </a:r>
          </a:p>
          <a:p>
            <a:pPr algn="l">
              <a:lnSpc>
                <a:spcPct val="105000"/>
              </a:lnSpc>
              <a:spcAft>
                <a:spcPts val="300"/>
              </a:spcAft>
            </a:pPr>
            <a:r>
              <a:rPr sz="1150" b="0" i="0">
                <a:solidFill>
                  <a:srgbClr val="33475B"/>
                </a:solidFill>
                <a:latin typeface="Calibri"/>
              </a:rPr>
              <a:t>Python 3.11</a:t>
            </a:r>
          </a:p>
          <a:p>
            <a:pPr algn="l">
              <a:lnSpc>
                <a:spcPct val="105000"/>
              </a:lnSpc>
              <a:spcAft>
                <a:spcPts val="300"/>
              </a:spcAft>
            </a:pPr>
            <a:r>
              <a:rPr sz="1150" b="0" i="0">
                <a:solidFill>
                  <a:srgbClr val="33475B"/>
                </a:solidFill>
                <a:latin typeface="Calibri"/>
              </a:rPr>
              <a:t>FastAPI</a:t>
            </a:r>
          </a:p>
          <a:p>
            <a:pPr algn="l">
              <a:lnSpc>
                <a:spcPct val="105000"/>
              </a:lnSpc>
              <a:spcAft>
                <a:spcPts val="300"/>
              </a:spcAft>
            </a:pPr>
            <a:r>
              <a:rPr sz="1150" b="0" i="0">
                <a:solidFill>
                  <a:srgbClr val="33475B"/>
                </a:solidFill>
                <a:latin typeface="Calibri"/>
              </a:rPr>
              <a:t>PostgreSQL 14</a:t>
            </a:r>
          </a:p>
        </p:txBody>
      </p:sp>
      <p:sp>
        <p:nvSpPr>
          <p:cNvPr id="7" name="Rounded Rectangle 6"/>
          <p:cNvSpPr/>
          <p:nvPr/>
        </p:nvSpPr>
        <p:spPr>
          <a:xfrm>
            <a:off x="4334256" y="1463040"/>
            <a:ext cx="3511296" cy="155448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5424" y="1627632"/>
            <a:ext cx="3108960" cy="1225296"/>
          </a:xfrm>
          <a:prstGeom prst="rect">
            <a:avLst/>
          </a:prstGeom>
          <a:noFill/>
        </p:spPr>
        <p:txBody>
          <a:bodyPr wrap="square" lIns="0" rIns="0" tIns="0" bIns="0">
            <a:spAutoFit/>
          </a:bodyPr>
          <a:lstStyle/>
          <a:p>
            <a:pPr algn="l">
              <a:lnSpc>
                <a:spcPct val="105000"/>
              </a:lnSpc>
              <a:spcAft>
                <a:spcPts val="300"/>
              </a:spcAft>
            </a:pPr>
            <a:r>
              <a:rPr sz="1000" b="1" i="0">
                <a:solidFill>
                  <a:srgbClr val="1B6E8F"/>
                </a:solidFill>
                <a:latin typeface="Consolas"/>
              </a:rPr>
              <a:t>ANALYSIS</a:t>
            </a:r>
          </a:p>
          <a:p>
            <a:pPr algn="l">
              <a:lnSpc>
                <a:spcPct val="105000"/>
              </a:lnSpc>
              <a:spcAft>
                <a:spcPts val="300"/>
              </a:spcAft>
            </a:pPr>
            <a:r>
              <a:rPr sz="1150" b="0" i="0">
                <a:solidFill>
                  <a:srgbClr val="33475B"/>
                </a:solidFill>
                <a:latin typeface="Calibri"/>
              </a:rPr>
              <a:t>Gemini 2.5 Flash</a:t>
            </a:r>
          </a:p>
          <a:p>
            <a:pPr algn="l">
              <a:lnSpc>
                <a:spcPct val="105000"/>
              </a:lnSpc>
              <a:spcAft>
                <a:spcPts val="300"/>
              </a:spcAft>
            </a:pPr>
            <a:r>
              <a:rPr sz="1150" b="0" i="0">
                <a:solidFill>
                  <a:srgbClr val="33475B"/>
                </a:solidFill>
                <a:latin typeface="Calibri"/>
              </a:rPr>
              <a:t>Playwright</a:t>
            </a:r>
          </a:p>
          <a:p>
            <a:pPr algn="l">
              <a:lnSpc>
                <a:spcPct val="105000"/>
              </a:lnSpc>
              <a:spcAft>
                <a:spcPts val="300"/>
              </a:spcAft>
            </a:pPr>
            <a:r>
              <a:rPr sz="1150" b="0" i="0">
                <a:solidFill>
                  <a:srgbClr val="33475B"/>
                </a:solidFill>
                <a:latin typeface="Calibri"/>
              </a:rPr>
              <a:t>Custom scoring</a:t>
            </a:r>
          </a:p>
        </p:txBody>
      </p:sp>
      <p:sp>
        <p:nvSpPr>
          <p:cNvPr id="9" name="Rounded Rectangle 8"/>
          <p:cNvSpPr/>
          <p:nvPr/>
        </p:nvSpPr>
        <p:spPr>
          <a:xfrm>
            <a:off x="8074152" y="1463040"/>
            <a:ext cx="3511296" cy="155448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627632"/>
            <a:ext cx="3108960" cy="1225296"/>
          </a:xfrm>
          <a:prstGeom prst="rect">
            <a:avLst/>
          </a:prstGeom>
          <a:noFill/>
        </p:spPr>
        <p:txBody>
          <a:bodyPr wrap="square" lIns="0" rIns="0" tIns="0" bIns="0">
            <a:spAutoFit/>
          </a:bodyPr>
          <a:lstStyle/>
          <a:p>
            <a:pPr algn="l">
              <a:lnSpc>
                <a:spcPct val="105000"/>
              </a:lnSpc>
              <a:spcAft>
                <a:spcPts val="300"/>
              </a:spcAft>
            </a:pPr>
            <a:r>
              <a:rPr sz="1000" b="1" i="0">
                <a:solidFill>
                  <a:srgbClr val="1B6E8F"/>
                </a:solidFill>
                <a:latin typeface="Consolas"/>
              </a:rPr>
              <a:t>COLLECTION</a:t>
            </a:r>
          </a:p>
          <a:p>
            <a:pPr algn="l">
              <a:lnSpc>
                <a:spcPct val="105000"/>
              </a:lnSpc>
              <a:spcAft>
                <a:spcPts val="300"/>
              </a:spcAft>
            </a:pPr>
            <a:r>
              <a:rPr sz="1150" b="0" i="0">
                <a:solidFill>
                  <a:srgbClr val="33475B"/>
                </a:solidFill>
                <a:latin typeface="Calibri"/>
              </a:rPr>
              <a:t>HTTP and GraphQL</a:t>
            </a:r>
          </a:p>
          <a:p>
            <a:pPr algn="l">
              <a:lnSpc>
                <a:spcPct val="105000"/>
              </a:lnSpc>
              <a:spcAft>
                <a:spcPts val="300"/>
              </a:spcAft>
            </a:pPr>
            <a:r>
              <a:rPr sz="1150" b="0" i="0">
                <a:solidFill>
                  <a:srgbClr val="33475B"/>
                </a:solidFill>
                <a:latin typeface="Calibri"/>
              </a:rPr>
              <a:t>Persisted queries</a:t>
            </a:r>
          </a:p>
          <a:p>
            <a:pPr algn="l">
              <a:lnSpc>
                <a:spcPct val="105000"/>
              </a:lnSpc>
              <a:spcAft>
                <a:spcPts val="300"/>
              </a:spcAft>
            </a:pPr>
            <a:r>
              <a:rPr sz="1150" b="0" i="0">
                <a:solidFill>
                  <a:srgbClr val="33475B"/>
                </a:solidFill>
                <a:latin typeface="Calibri"/>
              </a:rPr>
              <a:t>Cursor paging</a:t>
            </a:r>
          </a:p>
        </p:txBody>
      </p:sp>
      <p:sp>
        <p:nvSpPr>
          <p:cNvPr id="11" name="Rounded Rectangle 10"/>
          <p:cNvSpPr/>
          <p:nvPr/>
        </p:nvSpPr>
        <p:spPr>
          <a:xfrm>
            <a:off x="594360" y="3291840"/>
            <a:ext cx="3511296" cy="155448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456432"/>
            <a:ext cx="3108960" cy="1225296"/>
          </a:xfrm>
          <a:prstGeom prst="rect">
            <a:avLst/>
          </a:prstGeom>
          <a:noFill/>
        </p:spPr>
        <p:txBody>
          <a:bodyPr wrap="square" lIns="0" rIns="0" tIns="0" bIns="0">
            <a:spAutoFit/>
          </a:bodyPr>
          <a:lstStyle/>
          <a:p>
            <a:pPr algn="l">
              <a:lnSpc>
                <a:spcPct val="105000"/>
              </a:lnSpc>
              <a:spcAft>
                <a:spcPts val="300"/>
              </a:spcAft>
            </a:pPr>
            <a:r>
              <a:rPr sz="1000" b="1" i="0">
                <a:solidFill>
                  <a:srgbClr val="1B6E8F"/>
                </a:solidFill>
                <a:latin typeface="Consolas"/>
              </a:rPr>
              <a:t>EXTENSION</a:t>
            </a:r>
          </a:p>
          <a:p>
            <a:pPr algn="l">
              <a:lnSpc>
                <a:spcPct val="105000"/>
              </a:lnSpc>
              <a:spcAft>
                <a:spcPts val="300"/>
              </a:spcAft>
            </a:pPr>
            <a:r>
              <a:rPr sz="1150" b="0" i="0">
                <a:solidFill>
                  <a:srgbClr val="33475B"/>
                </a:solidFill>
                <a:latin typeface="Calibri"/>
              </a:rPr>
              <a:t>Manifest V3</a:t>
            </a:r>
          </a:p>
          <a:p>
            <a:pPr algn="l">
              <a:lnSpc>
                <a:spcPct val="105000"/>
              </a:lnSpc>
              <a:spcAft>
                <a:spcPts val="300"/>
              </a:spcAft>
            </a:pPr>
            <a:r>
              <a:rPr sz="1150" b="0" i="0">
                <a:solidFill>
                  <a:srgbClr val="33475B"/>
                </a:solidFill>
                <a:latin typeface="Calibri"/>
              </a:rPr>
              <a:t>React 19 and Vite</a:t>
            </a:r>
          </a:p>
          <a:p>
            <a:pPr algn="l">
              <a:lnSpc>
                <a:spcPct val="105000"/>
              </a:lnSpc>
              <a:spcAft>
                <a:spcPts val="300"/>
              </a:spcAft>
            </a:pPr>
            <a:r>
              <a:rPr sz="1150" b="0" i="0">
                <a:solidFill>
                  <a:srgbClr val="33475B"/>
                </a:solidFill>
                <a:latin typeface="Calibri"/>
              </a:rPr>
              <a:t>Safari Web Extension</a:t>
            </a:r>
          </a:p>
        </p:txBody>
      </p:sp>
      <p:sp>
        <p:nvSpPr>
          <p:cNvPr id="13" name="Rounded Rectangle 12"/>
          <p:cNvSpPr/>
          <p:nvPr/>
        </p:nvSpPr>
        <p:spPr>
          <a:xfrm>
            <a:off x="4334256" y="3291840"/>
            <a:ext cx="3511296" cy="155448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3456432"/>
            <a:ext cx="3108960" cy="1225296"/>
          </a:xfrm>
          <a:prstGeom prst="rect">
            <a:avLst/>
          </a:prstGeom>
          <a:noFill/>
        </p:spPr>
        <p:txBody>
          <a:bodyPr wrap="square" lIns="0" rIns="0" tIns="0" bIns="0">
            <a:spAutoFit/>
          </a:bodyPr>
          <a:lstStyle/>
          <a:p>
            <a:pPr algn="l">
              <a:lnSpc>
                <a:spcPct val="105000"/>
              </a:lnSpc>
              <a:spcAft>
                <a:spcPts val="300"/>
              </a:spcAft>
            </a:pPr>
            <a:r>
              <a:rPr sz="1000" b="1" i="0">
                <a:solidFill>
                  <a:srgbClr val="1B6E8F"/>
                </a:solidFill>
                <a:latin typeface="Consolas"/>
              </a:rPr>
              <a:t>INFRASTRUCTURE</a:t>
            </a:r>
          </a:p>
          <a:p>
            <a:pPr algn="l">
              <a:lnSpc>
                <a:spcPct val="105000"/>
              </a:lnSpc>
              <a:spcAft>
                <a:spcPts val="300"/>
              </a:spcAft>
            </a:pPr>
            <a:r>
              <a:rPr sz="1150" b="0" i="0">
                <a:solidFill>
                  <a:srgbClr val="33475B"/>
                </a:solidFill>
                <a:latin typeface="Calibri"/>
              </a:rPr>
              <a:t>Oracle Cloud VM</a:t>
            </a:r>
          </a:p>
          <a:p>
            <a:pPr algn="l">
              <a:lnSpc>
                <a:spcPct val="105000"/>
              </a:lnSpc>
              <a:spcAft>
                <a:spcPts val="300"/>
              </a:spcAft>
            </a:pPr>
            <a:r>
              <a:rPr sz="1150" b="0" i="0">
                <a:solidFill>
                  <a:srgbClr val="33475B"/>
                </a:solidFill>
                <a:latin typeface="Calibri"/>
              </a:rPr>
              <a:t>nginx and Cloudflare</a:t>
            </a:r>
          </a:p>
          <a:p>
            <a:pPr algn="l">
              <a:lnSpc>
                <a:spcPct val="105000"/>
              </a:lnSpc>
              <a:spcAft>
                <a:spcPts val="300"/>
              </a:spcAft>
            </a:pPr>
            <a:r>
              <a:rPr sz="1150" b="0" i="0">
                <a:solidFill>
                  <a:srgbClr val="33475B"/>
                </a:solidFill>
                <a:latin typeface="Calibri"/>
              </a:rPr>
              <a:t>systemd and cron</a:t>
            </a:r>
          </a:p>
        </p:txBody>
      </p:sp>
      <p:sp>
        <p:nvSpPr>
          <p:cNvPr id="15" name="Rounded Rectangle 14"/>
          <p:cNvSpPr/>
          <p:nvPr/>
        </p:nvSpPr>
        <p:spPr>
          <a:xfrm>
            <a:off x="8074152" y="3291840"/>
            <a:ext cx="3511296" cy="155448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3456432"/>
            <a:ext cx="3108960" cy="1225296"/>
          </a:xfrm>
          <a:prstGeom prst="rect">
            <a:avLst/>
          </a:prstGeom>
          <a:noFill/>
        </p:spPr>
        <p:txBody>
          <a:bodyPr wrap="square" lIns="0" rIns="0" tIns="0" bIns="0">
            <a:spAutoFit/>
          </a:bodyPr>
          <a:lstStyle/>
          <a:p>
            <a:pPr algn="l">
              <a:lnSpc>
                <a:spcPct val="105000"/>
              </a:lnSpc>
              <a:spcAft>
                <a:spcPts val="300"/>
              </a:spcAft>
            </a:pPr>
            <a:r>
              <a:rPr sz="1000" b="1" i="0">
                <a:solidFill>
                  <a:srgbClr val="1B6E8F"/>
                </a:solidFill>
                <a:latin typeface="Consolas"/>
              </a:rPr>
              <a:t>AUTH</a:t>
            </a:r>
          </a:p>
          <a:p>
            <a:pPr algn="l">
              <a:lnSpc>
                <a:spcPct val="105000"/>
              </a:lnSpc>
              <a:spcAft>
                <a:spcPts val="300"/>
              </a:spcAft>
            </a:pPr>
            <a:r>
              <a:rPr sz="1150" b="0" i="0">
                <a:solidFill>
                  <a:srgbClr val="33475B"/>
                </a:solidFill>
                <a:latin typeface="Calibri"/>
              </a:rPr>
              <a:t>Google OAuth</a:t>
            </a:r>
          </a:p>
          <a:p>
            <a:pPr algn="l">
              <a:lnSpc>
                <a:spcPct val="105000"/>
              </a:lnSpc>
              <a:spcAft>
                <a:spcPts val="300"/>
              </a:spcAft>
            </a:pPr>
            <a:r>
              <a:rPr sz="1150" b="0" i="0">
                <a:solidFill>
                  <a:srgbClr val="33475B"/>
                </a:solidFill>
                <a:latin typeface="Calibri"/>
              </a:rPr>
              <a:t>Short-lived JWT</a:t>
            </a:r>
          </a:p>
          <a:p>
            <a:pPr algn="l">
              <a:lnSpc>
                <a:spcPct val="105000"/>
              </a:lnSpc>
              <a:spcAft>
                <a:spcPts val="300"/>
              </a:spcAft>
            </a:pPr>
            <a:r>
              <a:rPr sz="1150" b="0" i="0">
                <a:solidFill>
                  <a:srgbClr val="33475B"/>
                </a:solidFill>
                <a:latin typeface="Calibri"/>
              </a:rPr>
              <a:t>No stored passwords</a:t>
            </a:r>
          </a:p>
        </p:txBody>
      </p:sp>
      <p:sp>
        <p:nvSpPr>
          <p:cNvPr id="17" name="TextBox 16"/>
          <p:cNvSpPr txBox="1"/>
          <p:nvPr/>
        </p:nvSpPr>
        <p:spPr>
          <a:xfrm>
            <a:off x="11475720" y="6419088"/>
            <a:ext cx="411480" cy="274320"/>
          </a:xfrm>
          <a:prstGeom prst="rect">
            <a:avLst/>
          </a:prstGeom>
          <a:noFill/>
        </p:spPr>
        <p:txBody>
          <a:bodyPr wrap="square" lIns="0" rIns="0" tIns="0" bIns="0">
            <a:spAutoFit/>
          </a:bodyPr>
          <a:lstStyle/>
          <a:p>
            <a:pPr algn="r">
              <a:lnSpc>
                <a:spcPct val="100000"/>
              </a:lnSpc>
              <a:spcAft>
                <a:spcPts val="600"/>
              </a:spcAft>
            </a:pPr>
            <a:r>
              <a:rPr sz="900" b="0" i="0">
                <a:solidFill>
                  <a:srgbClr val="8A9BA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lIns="0" rIns="0" tIns="0" bIns="0">
            <a:spAutoFit/>
          </a:bodyPr>
          <a:lstStyle/>
          <a:p>
            <a:pPr algn="l">
              <a:lnSpc>
                <a:spcPct val="100000"/>
              </a:lnSpc>
              <a:spcAft>
                <a:spcPts val="600"/>
              </a:spcAft>
            </a:pPr>
            <a:r>
              <a:rPr sz="1050" b="1" i="0">
                <a:solidFill>
                  <a:srgbClr val="1B6E8F"/>
                </a:solidFill>
                <a:latin typeface="Consolas"/>
              </a:rPr>
              <a:t>TECHNOLOGY</a:t>
            </a:r>
          </a:p>
        </p:txBody>
      </p:sp>
      <p:sp>
        <p:nvSpPr>
          <p:cNvPr id="3" name="TextBox 2"/>
          <p:cNvSpPr txBox="1"/>
          <p:nvPr/>
        </p:nvSpPr>
        <p:spPr>
          <a:xfrm>
            <a:off x="594360" y="658368"/>
            <a:ext cx="11000232" cy="594360"/>
          </a:xfrm>
          <a:prstGeom prst="rect">
            <a:avLst/>
          </a:prstGeom>
          <a:noFill/>
        </p:spPr>
        <p:txBody>
          <a:bodyPr wrap="square" lIns="0" rIns="0" tIns="0" bIns="0">
            <a:spAutoFit/>
          </a:bodyPr>
          <a:lstStyle/>
          <a:p>
            <a:pPr algn="l">
              <a:lnSpc>
                <a:spcPct val="100000"/>
              </a:lnSpc>
              <a:spcAft>
                <a:spcPts val="600"/>
              </a:spcAft>
            </a:pPr>
            <a:r>
              <a:rPr sz="3000" b="1" i="0">
                <a:solidFill>
                  <a:srgbClr val="13324B"/>
                </a:solidFill>
                <a:latin typeface="Georgia"/>
              </a:rPr>
              <a:t>Challenges and the choices we made</a:t>
            </a:r>
          </a:p>
        </p:txBody>
      </p:sp>
      <p:sp>
        <p:nvSpPr>
          <p:cNvPr id="4" name="Rectangle 3"/>
          <p:cNvSpPr/>
          <p:nvPr/>
        </p:nvSpPr>
        <p:spPr>
          <a:xfrm>
            <a:off x="594360" y="1207008"/>
            <a:ext cx="11000232" cy="10160"/>
          </a:xfrm>
          <a:prstGeom prst="rect">
            <a:avLst/>
          </a:prstGeom>
          <a:solidFill>
            <a:srgbClr val="DD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417320"/>
            <a:ext cx="11000232" cy="841248"/>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581912"/>
            <a:ext cx="10597896" cy="512064"/>
          </a:xfrm>
          <a:prstGeom prst="rect">
            <a:avLst/>
          </a:prstGeom>
          <a:noFill/>
        </p:spPr>
        <p:txBody>
          <a:bodyPr wrap="square" lIns="0" rIns="0" tIns="0" bIns="0">
            <a:spAutoFit/>
          </a:bodyPr>
          <a:lstStyle/>
          <a:p>
            <a:pPr algn="l">
              <a:lnSpc>
                <a:spcPct val="110000"/>
              </a:lnSpc>
              <a:spcAft>
                <a:spcPts val="400"/>
              </a:spcAft>
            </a:pPr>
            <a:r>
              <a:rPr sz="1150" b="1" i="0">
                <a:solidFill>
                  <a:srgbClr val="13324B"/>
                </a:solidFill>
                <a:latin typeface="Calibri"/>
              </a:rPr>
              <a:t>Meta blocks browser automation.</a:t>
            </a:r>
            <a:r>
              <a:rPr sz="1100" b="0" i="0">
                <a:solidFill>
                  <a:srgbClr val="33475B"/>
                </a:solidFill>
                <a:latin typeface="Calibri"/>
              </a:rPr>
              <a:t>  Replaced Playwright with direct HTTP calls to the same GraphQL endpoint the Ad Library page uses. Roughly ten times lighter and about ten minutes per keyword.</a:t>
            </a:r>
          </a:p>
        </p:txBody>
      </p:sp>
      <p:sp>
        <p:nvSpPr>
          <p:cNvPr id="7" name="Rounded Rectangle 6"/>
          <p:cNvSpPr/>
          <p:nvPr/>
        </p:nvSpPr>
        <p:spPr>
          <a:xfrm>
            <a:off x="594360" y="2386584"/>
            <a:ext cx="11000232" cy="841248"/>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551176"/>
            <a:ext cx="10597896" cy="512064"/>
          </a:xfrm>
          <a:prstGeom prst="rect">
            <a:avLst/>
          </a:prstGeom>
          <a:noFill/>
        </p:spPr>
        <p:txBody>
          <a:bodyPr wrap="square" lIns="0" rIns="0" tIns="0" bIns="0">
            <a:spAutoFit/>
          </a:bodyPr>
          <a:lstStyle/>
          <a:p>
            <a:pPr algn="l">
              <a:lnSpc>
                <a:spcPct val="110000"/>
              </a:lnSpc>
              <a:spcAft>
                <a:spcPts val="400"/>
              </a:spcAft>
            </a:pPr>
            <a:r>
              <a:rPr sz="1150" b="1" i="0">
                <a:solidFill>
                  <a:srgbClr val="13324B"/>
                </a:solidFill>
                <a:latin typeface="Calibri"/>
              </a:rPr>
              <a:t>The server has under 1 GB of memory.</a:t>
            </a:r>
            <a:r>
              <a:rPr sz="1100" b="0" i="0">
                <a:solidFill>
                  <a:srgbClr val="33475B"/>
                </a:solidFill>
                <a:latin typeface="Calibri"/>
              </a:rPr>
              <a:t>  Batches of ten, staggered cron windows, file locks to prevent overlap, and a memory guard that stands the analyser down when free memory runs low.</a:t>
            </a:r>
          </a:p>
        </p:txBody>
      </p:sp>
      <p:sp>
        <p:nvSpPr>
          <p:cNvPr id="9" name="Rounded Rectangle 8"/>
          <p:cNvSpPr/>
          <p:nvPr/>
        </p:nvSpPr>
        <p:spPr>
          <a:xfrm>
            <a:off x="594360" y="3355848"/>
            <a:ext cx="11000232" cy="841248"/>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3520440"/>
            <a:ext cx="10597896" cy="512064"/>
          </a:xfrm>
          <a:prstGeom prst="rect">
            <a:avLst/>
          </a:prstGeom>
          <a:noFill/>
        </p:spPr>
        <p:txBody>
          <a:bodyPr wrap="square" lIns="0" rIns="0" tIns="0" bIns="0">
            <a:spAutoFit/>
          </a:bodyPr>
          <a:lstStyle/>
          <a:p>
            <a:pPr algn="l">
              <a:lnSpc>
                <a:spcPct val="110000"/>
              </a:lnSpc>
              <a:spcAft>
                <a:spcPts val="400"/>
              </a:spcAft>
            </a:pPr>
            <a:r>
              <a:rPr sz="1150" b="1" i="0">
                <a:solidFill>
                  <a:srgbClr val="13324B"/>
                </a:solidFill>
                <a:latin typeface="Calibri"/>
              </a:rPr>
              <a:t>Rate limiting returns zero ads silently.</a:t>
            </a:r>
            <a:r>
              <a:rPr sz="1100" b="0" i="0">
                <a:solidFill>
                  <a:srgbClr val="33475B"/>
                </a:solidFill>
                <a:latin typeface="Calibri"/>
              </a:rPr>
              <a:t>  Hourly spacing between keyword jobs, an automatic cooldown and retry, and a nightly summary so a bad night is visible the next morning rather than hidden.</a:t>
            </a:r>
          </a:p>
        </p:txBody>
      </p:sp>
      <p:sp>
        <p:nvSpPr>
          <p:cNvPr id="11" name="Rounded Rectangle 10"/>
          <p:cNvSpPr/>
          <p:nvPr/>
        </p:nvSpPr>
        <p:spPr>
          <a:xfrm>
            <a:off x="594360" y="4325112"/>
            <a:ext cx="11000232" cy="841248"/>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4489704"/>
            <a:ext cx="10597896" cy="512064"/>
          </a:xfrm>
          <a:prstGeom prst="rect">
            <a:avLst/>
          </a:prstGeom>
          <a:noFill/>
        </p:spPr>
        <p:txBody>
          <a:bodyPr wrap="square" lIns="0" rIns="0" tIns="0" bIns="0">
            <a:spAutoFit/>
          </a:bodyPr>
          <a:lstStyle/>
          <a:p>
            <a:pPr algn="l">
              <a:lnSpc>
                <a:spcPct val="110000"/>
              </a:lnSpc>
              <a:spcAft>
                <a:spcPts val="400"/>
              </a:spcAft>
            </a:pPr>
            <a:r>
              <a:rPr sz="1150" b="1" i="0">
                <a:solidFill>
                  <a:srgbClr val="13324B"/>
                </a:solidFill>
                <a:latin typeface="Calibri"/>
              </a:rPr>
              <a:t>False positives would damage real businesses.</a:t>
            </a:r>
            <a:r>
              <a:rPr sz="1100" b="0" i="0">
                <a:solidFill>
                  <a:srgbClr val="33475B"/>
                </a:solidFill>
                <a:latin typeface="Calibri"/>
              </a:rPr>
              <a:t>  A 22,000-domain trusted list that is never scored, a 0.6 threshold, an explicit uncertain class, and required evidence citations so every verdict is auditable.</a:t>
            </a:r>
          </a:p>
        </p:txBody>
      </p:sp>
      <p:sp>
        <p:nvSpPr>
          <p:cNvPr id="13" name="Rounded Rectangle 12"/>
          <p:cNvSpPr/>
          <p:nvPr/>
        </p:nvSpPr>
        <p:spPr>
          <a:xfrm>
            <a:off x="594360" y="5294376"/>
            <a:ext cx="11000232" cy="841248"/>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5458968"/>
            <a:ext cx="10597896" cy="512064"/>
          </a:xfrm>
          <a:prstGeom prst="rect">
            <a:avLst/>
          </a:prstGeom>
          <a:noFill/>
        </p:spPr>
        <p:txBody>
          <a:bodyPr wrap="square" lIns="0" rIns="0" tIns="0" bIns="0">
            <a:spAutoFit/>
          </a:bodyPr>
          <a:lstStyle/>
          <a:p>
            <a:pPr algn="l">
              <a:lnSpc>
                <a:spcPct val="110000"/>
              </a:lnSpc>
              <a:spcAft>
                <a:spcPts val="400"/>
              </a:spcAft>
            </a:pPr>
            <a:r>
              <a:rPr sz="1150" b="1" i="0">
                <a:solidFill>
                  <a:srgbClr val="13324B"/>
                </a:solidFill>
                <a:latin typeface="Calibri"/>
              </a:rPr>
              <a:t>AI analysis cost.</a:t>
            </a:r>
            <a:r>
              <a:rPr sz="1100" b="0" i="0">
                <a:solidFill>
                  <a:srgbClr val="33475B"/>
                </a:solidFill>
                <a:latin typeface="Calibri"/>
              </a:rPr>
              <a:t>  The binding constraint. It exhausted the project budget and forced a six-month pause in collection. Cost per analysis is now a first-class design concern.</a:t>
            </a:r>
          </a:p>
        </p:txBody>
      </p:sp>
      <p:sp>
        <p:nvSpPr>
          <p:cNvPr id="15" name="TextBox 14"/>
          <p:cNvSpPr txBox="1"/>
          <p:nvPr/>
        </p:nvSpPr>
        <p:spPr>
          <a:xfrm>
            <a:off x="11475720" y="6419088"/>
            <a:ext cx="411480" cy="274320"/>
          </a:xfrm>
          <a:prstGeom prst="rect">
            <a:avLst/>
          </a:prstGeom>
          <a:noFill/>
        </p:spPr>
        <p:txBody>
          <a:bodyPr wrap="square" lIns="0" rIns="0" tIns="0" bIns="0">
            <a:spAutoFit/>
          </a:bodyPr>
          <a:lstStyle/>
          <a:p>
            <a:pPr algn="r">
              <a:lnSpc>
                <a:spcPct val="100000"/>
              </a:lnSpc>
              <a:spcAft>
                <a:spcPts val="600"/>
              </a:spcAft>
            </a:pPr>
            <a:r>
              <a:rPr sz="900" b="0" i="0">
                <a:solidFill>
                  <a:srgbClr val="8A9BA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lIns="0" rIns="0" tIns="0" bIns="0">
            <a:spAutoFit/>
          </a:bodyPr>
          <a:lstStyle/>
          <a:p>
            <a:pPr algn="l">
              <a:lnSpc>
                <a:spcPct val="100000"/>
              </a:lnSpc>
              <a:spcAft>
                <a:spcPts val="600"/>
              </a:spcAft>
            </a:pPr>
            <a:r>
              <a:rPr sz="1050" b="1" i="0">
                <a:solidFill>
                  <a:srgbClr val="1B6E8F"/>
                </a:solidFill>
                <a:latin typeface="Consolas"/>
              </a:rPr>
              <a:t>ARCHITECTURE</a:t>
            </a:r>
          </a:p>
        </p:txBody>
      </p:sp>
      <p:sp>
        <p:nvSpPr>
          <p:cNvPr id="3" name="TextBox 2"/>
          <p:cNvSpPr txBox="1"/>
          <p:nvPr/>
        </p:nvSpPr>
        <p:spPr>
          <a:xfrm>
            <a:off x="594360" y="658368"/>
            <a:ext cx="11000232" cy="594360"/>
          </a:xfrm>
          <a:prstGeom prst="rect">
            <a:avLst/>
          </a:prstGeom>
          <a:noFill/>
        </p:spPr>
        <p:txBody>
          <a:bodyPr wrap="square" lIns="0" rIns="0" tIns="0" bIns="0">
            <a:spAutoFit/>
          </a:bodyPr>
          <a:lstStyle/>
          <a:p>
            <a:pPr algn="l">
              <a:lnSpc>
                <a:spcPct val="100000"/>
              </a:lnSpc>
              <a:spcAft>
                <a:spcPts val="600"/>
              </a:spcAft>
            </a:pPr>
            <a:r>
              <a:rPr sz="3000" b="1" i="0">
                <a:solidFill>
                  <a:srgbClr val="13324B"/>
                </a:solidFill>
                <a:latin typeface="Georgia"/>
              </a:rPr>
              <a:t>How the system fits together</a:t>
            </a:r>
          </a:p>
        </p:txBody>
      </p:sp>
      <p:sp>
        <p:nvSpPr>
          <p:cNvPr id="4" name="Rectangle 3"/>
          <p:cNvSpPr/>
          <p:nvPr/>
        </p:nvSpPr>
        <p:spPr>
          <a:xfrm>
            <a:off x="594360" y="1207008"/>
            <a:ext cx="11000232" cy="10160"/>
          </a:xfrm>
          <a:prstGeom prst="rect">
            <a:avLst/>
          </a:prstGeom>
          <a:solidFill>
            <a:srgbClr val="DD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719072"/>
            <a:ext cx="914400" cy="274320"/>
          </a:xfrm>
          <a:prstGeom prst="rect">
            <a:avLst/>
          </a:prstGeom>
          <a:noFill/>
        </p:spPr>
        <p:txBody>
          <a:bodyPr wrap="square" lIns="0" rIns="0" tIns="0" bIns="0">
            <a:spAutoFit/>
          </a:bodyPr>
          <a:lstStyle/>
          <a:p>
            <a:pPr algn="l">
              <a:lnSpc>
                <a:spcPct val="100000"/>
              </a:lnSpc>
              <a:spcAft>
                <a:spcPts val="600"/>
              </a:spcAft>
            </a:pPr>
            <a:r>
              <a:rPr sz="950" b="1" i="0">
                <a:solidFill>
                  <a:srgbClr val="1B6E8F"/>
                </a:solidFill>
                <a:latin typeface="Consolas"/>
              </a:rPr>
              <a:t>COLLECT</a:t>
            </a:r>
          </a:p>
        </p:txBody>
      </p:sp>
      <p:sp>
        <p:nvSpPr>
          <p:cNvPr id="6" name="Rounded Rectangle 5"/>
          <p:cNvSpPr/>
          <p:nvPr/>
        </p:nvSpPr>
        <p:spPr>
          <a:xfrm>
            <a:off x="1600200" y="1463040"/>
            <a:ext cx="2651760" cy="77724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01368" y="1627632"/>
            <a:ext cx="2249424" cy="448056"/>
          </a:xfrm>
          <a:prstGeom prst="rect">
            <a:avLst/>
          </a:prstGeom>
          <a:noFill/>
        </p:spPr>
        <p:txBody>
          <a:bodyPr wrap="square" lIns="0" rIns="0" tIns="0" bIns="0">
            <a:spAutoFit/>
          </a:bodyPr>
          <a:lstStyle/>
          <a:p>
            <a:pPr algn="l">
              <a:lnSpc>
                <a:spcPct val="100000"/>
              </a:lnSpc>
              <a:spcAft>
                <a:spcPts val="100"/>
              </a:spcAft>
            </a:pPr>
            <a:r>
              <a:rPr sz="1150" b="1" i="0">
                <a:solidFill>
                  <a:srgbClr val="13324B"/>
                </a:solidFill>
                <a:latin typeface="Calibri"/>
              </a:rPr>
              <a:t>Meta Ad Library</a:t>
            </a:r>
          </a:p>
          <a:p>
            <a:pPr algn="l">
              <a:lnSpc>
                <a:spcPct val="100000"/>
              </a:lnSpc>
              <a:spcAft>
                <a:spcPts val="100"/>
              </a:spcAft>
            </a:pPr>
            <a:r>
              <a:rPr sz="900" b="0" i="0">
                <a:solidFill>
                  <a:srgbClr val="8A9BA8"/>
                </a:solidFill>
                <a:latin typeface="Calibri"/>
              </a:rPr>
              <a:t>public, 6 Hebrew keywords</a:t>
            </a:r>
          </a:p>
        </p:txBody>
      </p:sp>
      <p:sp>
        <p:nvSpPr>
          <p:cNvPr id="8" name="Right Arrow 7"/>
          <p:cNvSpPr/>
          <p:nvPr/>
        </p:nvSpPr>
        <p:spPr>
          <a:xfrm>
            <a:off x="4325112" y="1719072"/>
            <a:ext cx="365760" cy="256032"/>
          </a:xfrm>
          <a:prstGeom prst="rightArrow">
            <a:avLst/>
          </a:prstGeom>
          <a:solidFill>
            <a:srgbClr val="B7C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54880" y="1463040"/>
            <a:ext cx="2651760" cy="77724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56048" y="1627632"/>
            <a:ext cx="2249424" cy="448056"/>
          </a:xfrm>
          <a:prstGeom prst="rect">
            <a:avLst/>
          </a:prstGeom>
          <a:noFill/>
        </p:spPr>
        <p:txBody>
          <a:bodyPr wrap="square" lIns="0" rIns="0" tIns="0" bIns="0">
            <a:spAutoFit/>
          </a:bodyPr>
          <a:lstStyle/>
          <a:p>
            <a:pPr algn="l">
              <a:lnSpc>
                <a:spcPct val="100000"/>
              </a:lnSpc>
              <a:spcAft>
                <a:spcPts val="100"/>
              </a:spcAft>
            </a:pPr>
            <a:r>
              <a:rPr sz="1150" b="1" i="0">
                <a:solidFill>
                  <a:srgbClr val="13324B"/>
                </a:solidFill>
                <a:latin typeface="Calibri"/>
              </a:rPr>
              <a:t>HTTP scraper</a:t>
            </a:r>
          </a:p>
          <a:p>
            <a:pPr algn="l">
              <a:lnSpc>
                <a:spcPct val="100000"/>
              </a:lnSpc>
              <a:spcAft>
                <a:spcPts val="100"/>
              </a:spcAft>
            </a:pPr>
            <a:r>
              <a:rPr sz="900" b="0" i="0">
                <a:solidFill>
                  <a:srgbClr val="8A9BA8"/>
                </a:solidFill>
                <a:latin typeface="Calibri"/>
              </a:rPr>
              <a:t>GraphQL, cursor paging</a:t>
            </a:r>
          </a:p>
        </p:txBody>
      </p:sp>
      <p:sp>
        <p:nvSpPr>
          <p:cNvPr id="11" name="Right Arrow 10"/>
          <p:cNvSpPr/>
          <p:nvPr/>
        </p:nvSpPr>
        <p:spPr>
          <a:xfrm>
            <a:off x="7479792" y="1719072"/>
            <a:ext cx="365760" cy="256032"/>
          </a:xfrm>
          <a:prstGeom prst="rightArrow">
            <a:avLst/>
          </a:prstGeom>
          <a:solidFill>
            <a:srgbClr val="B7C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09560" y="1463040"/>
            <a:ext cx="2651760" cy="77724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0728" y="1627632"/>
            <a:ext cx="2249424" cy="448056"/>
          </a:xfrm>
          <a:prstGeom prst="rect">
            <a:avLst/>
          </a:prstGeom>
          <a:noFill/>
        </p:spPr>
        <p:txBody>
          <a:bodyPr wrap="square" lIns="0" rIns="0" tIns="0" bIns="0">
            <a:spAutoFit/>
          </a:bodyPr>
          <a:lstStyle/>
          <a:p>
            <a:pPr algn="l">
              <a:lnSpc>
                <a:spcPct val="100000"/>
              </a:lnSpc>
              <a:spcAft>
                <a:spcPts val="100"/>
              </a:spcAft>
            </a:pPr>
            <a:r>
              <a:rPr sz="1150" b="1" i="0">
                <a:solidFill>
                  <a:srgbClr val="13324B"/>
                </a:solidFill>
                <a:latin typeface="Calibri"/>
              </a:rPr>
              <a:t>PostgreSQL</a:t>
            </a:r>
          </a:p>
          <a:p>
            <a:pPr algn="l">
              <a:lnSpc>
                <a:spcPct val="100000"/>
              </a:lnSpc>
              <a:spcAft>
                <a:spcPts val="100"/>
              </a:spcAft>
            </a:pPr>
            <a:r>
              <a:rPr sz="900" b="0" i="0">
                <a:solidFill>
                  <a:srgbClr val="8A9BA8"/>
                </a:solidFill>
                <a:latin typeface="Calibri"/>
              </a:rPr>
              <a:t>ads and advertisers</a:t>
            </a:r>
          </a:p>
        </p:txBody>
      </p:sp>
      <p:sp>
        <p:nvSpPr>
          <p:cNvPr id="14" name="TextBox 13"/>
          <p:cNvSpPr txBox="1"/>
          <p:nvPr/>
        </p:nvSpPr>
        <p:spPr>
          <a:xfrm>
            <a:off x="594360" y="2816352"/>
            <a:ext cx="914400" cy="274320"/>
          </a:xfrm>
          <a:prstGeom prst="rect">
            <a:avLst/>
          </a:prstGeom>
          <a:noFill/>
        </p:spPr>
        <p:txBody>
          <a:bodyPr wrap="square" lIns="0" rIns="0" tIns="0" bIns="0">
            <a:spAutoFit/>
          </a:bodyPr>
          <a:lstStyle/>
          <a:p>
            <a:pPr algn="l">
              <a:lnSpc>
                <a:spcPct val="100000"/>
              </a:lnSpc>
              <a:spcAft>
                <a:spcPts val="600"/>
              </a:spcAft>
            </a:pPr>
            <a:r>
              <a:rPr sz="950" b="1" i="0">
                <a:solidFill>
                  <a:srgbClr val="1B6E8F"/>
                </a:solidFill>
                <a:latin typeface="Consolas"/>
              </a:rPr>
              <a:t>ANALYSE</a:t>
            </a:r>
          </a:p>
        </p:txBody>
      </p:sp>
      <p:sp>
        <p:nvSpPr>
          <p:cNvPr id="15" name="Rounded Rectangle 14"/>
          <p:cNvSpPr/>
          <p:nvPr/>
        </p:nvSpPr>
        <p:spPr>
          <a:xfrm>
            <a:off x="1600200" y="2560320"/>
            <a:ext cx="2651760" cy="77724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01368" y="2724912"/>
            <a:ext cx="2249424" cy="448056"/>
          </a:xfrm>
          <a:prstGeom prst="rect">
            <a:avLst/>
          </a:prstGeom>
          <a:noFill/>
        </p:spPr>
        <p:txBody>
          <a:bodyPr wrap="square" lIns="0" rIns="0" tIns="0" bIns="0">
            <a:spAutoFit/>
          </a:bodyPr>
          <a:lstStyle/>
          <a:p>
            <a:pPr algn="l">
              <a:lnSpc>
                <a:spcPct val="100000"/>
              </a:lnSpc>
              <a:spcAft>
                <a:spcPts val="100"/>
              </a:spcAft>
            </a:pPr>
            <a:r>
              <a:rPr sz="1150" b="1" i="0">
                <a:solidFill>
                  <a:srgbClr val="13324B"/>
                </a:solidFill>
                <a:latin typeface="Calibri"/>
              </a:rPr>
              <a:t>Playwright</a:t>
            </a:r>
          </a:p>
          <a:p>
            <a:pPr algn="l">
              <a:lnSpc>
                <a:spcPct val="100000"/>
              </a:lnSpc>
              <a:spcAft>
                <a:spcPts val="100"/>
              </a:spcAft>
            </a:pPr>
            <a:r>
              <a:rPr sz="900" b="0" i="0">
                <a:solidFill>
                  <a:srgbClr val="8A9BA8"/>
                </a:solidFill>
                <a:latin typeface="Calibri"/>
              </a:rPr>
              <a:t>loads store and policies</a:t>
            </a:r>
          </a:p>
        </p:txBody>
      </p:sp>
      <p:sp>
        <p:nvSpPr>
          <p:cNvPr id="17" name="Right Arrow 16"/>
          <p:cNvSpPr/>
          <p:nvPr/>
        </p:nvSpPr>
        <p:spPr>
          <a:xfrm>
            <a:off x="4325112" y="2816352"/>
            <a:ext cx="365760" cy="256032"/>
          </a:xfrm>
          <a:prstGeom prst="rightArrow">
            <a:avLst/>
          </a:prstGeom>
          <a:solidFill>
            <a:srgbClr val="B7C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754880" y="2560320"/>
            <a:ext cx="2651760" cy="77724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56048" y="2724912"/>
            <a:ext cx="2249424" cy="448056"/>
          </a:xfrm>
          <a:prstGeom prst="rect">
            <a:avLst/>
          </a:prstGeom>
          <a:noFill/>
        </p:spPr>
        <p:txBody>
          <a:bodyPr wrap="square" lIns="0" rIns="0" tIns="0" bIns="0">
            <a:spAutoFit/>
          </a:bodyPr>
          <a:lstStyle/>
          <a:p>
            <a:pPr algn="l">
              <a:lnSpc>
                <a:spcPct val="100000"/>
              </a:lnSpc>
              <a:spcAft>
                <a:spcPts val="100"/>
              </a:spcAft>
            </a:pPr>
            <a:r>
              <a:rPr sz="1150" b="1" i="0">
                <a:solidFill>
                  <a:srgbClr val="13324B"/>
                </a:solidFill>
                <a:latin typeface="Calibri"/>
              </a:rPr>
              <a:t>Gemini 2.5 Flash</a:t>
            </a:r>
          </a:p>
          <a:p>
            <a:pPr algn="l">
              <a:lnSpc>
                <a:spcPct val="100000"/>
              </a:lnSpc>
              <a:spcAft>
                <a:spcPts val="100"/>
              </a:spcAft>
            </a:pPr>
            <a:r>
              <a:rPr sz="900" b="0" i="0">
                <a:solidFill>
                  <a:srgbClr val="8A9BA8"/>
                </a:solidFill>
                <a:latin typeface="Calibri"/>
              </a:rPr>
              <a:t>score, category, evidence</a:t>
            </a:r>
          </a:p>
        </p:txBody>
      </p:sp>
      <p:sp>
        <p:nvSpPr>
          <p:cNvPr id="20" name="Right Arrow 19"/>
          <p:cNvSpPr/>
          <p:nvPr/>
        </p:nvSpPr>
        <p:spPr>
          <a:xfrm>
            <a:off x="7479792" y="2816352"/>
            <a:ext cx="365760" cy="256032"/>
          </a:xfrm>
          <a:prstGeom prst="rightArrow">
            <a:avLst/>
          </a:prstGeom>
          <a:solidFill>
            <a:srgbClr val="B7C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09560" y="2560320"/>
            <a:ext cx="2651760" cy="77724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8" y="2724912"/>
            <a:ext cx="2249424" cy="448056"/>
          </a:xfrm>
          <a:prstGeom prst="rect">
            <a:avLst/>
          </a:prstGeom>
          <a:noFill/>
        </p:spPr>
        <p:txBody>
          <a:bodyPr wrap="square" lIns="0" rIns="0" tIns="0" bIns="0">
            <a:spAutoFit/>
          </a:bodyPr>
          <a:lstStyle/>
          <a:p>
            <a:pPr algn="l">
              <a:lnSpc>
                <a:spcPct val="100000"/>
              </a:lnSpc>
              <a:spcAft>
                <a:spcPts val="100"/>
              </a:spcAft>
            </a:pPr>
            <a:r>
              <a:rPr sz="1150" b="1" i="0">
                <a:solidFill>
                  <a:srgbClr val="13324B"/>
                </a:solidFill>
                <a:latin typeface="Calibri"/>
              </a:rPr>
              <a:t>Price match</a:t>
            </a:r>
          </a:p>
          <a:p>
            <a:pPr algn="l">
              <a:lnSpc>
                <a:spcPct val="100000"/>
              </a:lnSpc>
              <a:spcAft>
                <a:spcPts val="100"/>
              </a:spcAft>
            </a:pPr>
            <a:r>
              <a:rPr sz="900" b="0" i="0">
                <a:solidFill>
                  <a:srgbClr val="8A9BA8"/>
                </a:solidFill>
                <a:latin typeface="Calibri"/>
              </a:rPr>
              <a:t>marketplace comparison</a:t>
            </a:r>
          </a:p>
        </p:txBody>
      </p:sp>
      <p:sp>
        <p:nvSpPr>
          <p:cNvPr id="23" name="TextBox 22"/>
          <p:cNvSpPr txBox="1"/>
          <p:nvPr/>
        </p:nvSpPr>
        <p:spPr>
          <a:xfrm>
            <a:off x="594360" y="3913632"/>
            <a:ext cx="914400" cy="274320"/>
          </a:xfrm>
          <a:prstGeom prst="rect">
            <a:avLst/>
          </a:prstGeom>
          <a:noFill/>
        </p:spPr>
        <p:txBody>
          <a:bodyPr wrap="square" lIns="0" rIns="0" tIns="0" bIns="0">
            <a:spAutoFit/>
          </a:bodyPr>
          <a:lstStyle/>
          <a:p>
            <a:pPr algn="l">
              <a:lnSpc>
                <a:spcPct val="100000"/>
              </a:lnSpc>
              <a:spcAft>
                <a:spcPts val="600"/>
              </a:spcAft>
            </a:pPr>
            <a:r>
              <a:rPr sz="950" b="1" i="0">
                <a:solidFill>
                  <a:srgbClr val="1B6E8F"/>
                </a:solidFill>
                <a:latin typeface="Consolas"/>
              </a:rPr>
              <a:t>SERVE</a:t>
            </a:r>
          </a:p>
        </p:txBody>
      </p:sp>
      <p:sp>
        <p:nvSpPr>
          <p:cNvPr id="24" name="Rounded Rectangle 23"/>
          <p:cNvSpPr/>
          <p:nvPr/>
        </p:nvSpPr>
        <p:spPr>
          <a:xfrm>
            <a:off x="1600200" y="3657600"/>
            <a:ext cx="2651760" cy="777240"/>
          </a:xfrm>
          <a:prstGeom prst="roundRect">
            <a:avLst>
              <a:gd name="adj" fmla="val 6000"/>
            </a:avLst>
          </a:prstGeom>
          <a:solidFill>
            <a:srgbClr val="DCE9F1"/>
          </a:solidFill>
          <a:ln w="9525">
            <a:solidFill>
              <a:srgbClr val="DCE9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01368" y="3822192"/>
            <a:ext cx="2249424" cy="448056"/>
          </a:xfrm>
          <a:prstGeom prst="rect">
            <a:avLst/>
          </a:prstGeom>
          <a:noFill/>
        </p:spPr>
        <p:txBody>
          <a:bodyPr wrap="square" lIns="0" rIns="0" tIns="0" bIns="0">
            <a:spAutoFit/>
          </a:bodyPr>
          <a:lstStyle/>
          <a:p>
            <a:pPr algn="l">
              <a:lnSpc>
                <a:spcPct val="100000"/>
              </a:lnSpc>
              <a:spcAft>
                <a:spcPts val="100"/>
              </a:spcAft>
            </a:pPr>
            <a:r>
              <a:rPr sz="1150" b="1" i="0">
                <a:solidFill>
                  <a:srgbClr val="1B6E8F"/>
                </a:solidFill>
                <a:latin typeface="Calibri"/>
              </a:rPr>
              <a:t>risk_db</a:t>
            </a:r>
          </a:p>
          <a:p>
            <a:pPr algn="l">
              <a:lnSpc>
                <a:spcPct val="100000"/>
              </a:lnSpc>
              <a:spcAft>
                <a:spcPts val="100"/>
              </a:spcAft>
            </a:pPr>
            <a:r>
              <a:rPr sz="900" b="0" i="0">
                <a:solidFill>
                  <a:srgbClr val="8A9BA8"/>
                </a:solidFill>
                <a:latin typeface="Calibri"/>
              </a:rPr>
              <a:t>score &gt;= 0.6</a:t>
            </a:r>
          </a:p>
        </p:txBody>
      </p:sp>
      <p:sp>
        <p:nvSpPr>
          <p:cNvPr id="26" name="Right Arrow 25"/>
          <p:cNvSpPr/>
          <p:nvPr/>
        </p:nvSpPr>
        <p:spPr>
          <a:xfrm>
            <a:off x="4325112" y="3913632"/>
            <a:ext cx="365760" cy="256032"/>
          </a:xfrm>
          <a:prstGeom prst="rightArrow">
            <a:avLst/>
          </a:prstGeom>
          <a:solidFill>
            <a:srgbClr val="B7C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754880" y="3657600"/>
            <a:ext cx="2651760" cy="77724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6048" y="3822192"/>
            <a:ext cx="2249424" cy="448056"/>
          </a:xfrm>
          <a:prstGeom prst="rect">
            <a:avLst/>
          </a:prstGeom>
          <a:noFill/>
        </p:spPr>
        <p:txBody>
          <a:bodyPr wrap="square" lIns="0" rIns="0" tIns="0" bIns="0">
            <a:spAutoFit/>
          </a:bodyPr>
          <a:lstStyle/>
          <a:p>
            <a:pPr algn="l">
              <a:lnSpc>
                <a:spcPct val="100000"/>
              </a:lnSpc>
              <a:spcAft>
                <a:spcPts val="100"/>
              </a:spcAft>
            </a:pPr>
            <a:r>
              <a:rPr sz="1150" b="1" i="0">
                <a:solidFill>
                  <a:srgbClr val="13324B"/>
                </a:solidFill>
                <a:latin typeface="Calibri"/>
              </a:rPr>
              <a:t>FastAPI</a:t>
            </a:r>
          </a:p>
          <a:p>
            <a:pPr algn="l">
              <a:lnSpc>
                <a:spcPct val="100000"/>
              </a:lnSpc>
              <a:spcAft>
                <a:spcPts val="100"/>
              </a:spcAft>
            </a:pPr>
            <a:r>
              <a:rPr sz="900" b="0" i="0">
                <a:solidFill>
                  <a:srgbClr val="8A9BA8"/>
                </a:solidFill>
                <a:latin typeface="Calibri"/>
              </a:rPr>
              <a:t>nginx, Cloudflare tunnel</a:t>
            </a:r>
          </a:p>
        </p:txBody>
      </p:sp>
      <p:sp>
        <p:nvSpPr>
          <p:cNvPr id="29" name="Right Arrow 28"/>
          <p:cNvSpPr/>
          <p:nvPr/>
        </p:nvSpPr>
        <p:spPr>
          <a:xfrm>
            <a:off x="7479792" y="3913632"/>
            <a:ext cx="365760" cy="256032"/>
          </a:xfrm>
          <a:prstGeom prst="rightArrow">
            <a:avLst/>
          </a:prstGeom>
          <a:solidFill>
            <a:srgbClr val="B7C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60" y="3657600"/>
            <a:ext cx="2651760" cy="77724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0728" y="3822192"/>
            <a:ext cx="2249424" cy="448056"/>
          </a:xfrm>
          <a:prstGeom prst="rect">
            <a:avLst/>
          </a:prstGeom>
          <a:noFill/>
        </p:spPr>
        <p:txBody>
          <a:bodyPr wrap="square" lIns="0" rIns="0" tIns="0" bIns="0">
            <a:spAutoFit/>
          </a:bodyPr>
          <a:lstStyle/>
          <a:p>
            <a:pPr algn="l">
              <a:lnSpc>
                <a:spcPct val="100000"/>
              </a:lnSpc>
              <a:spcAft>
                <a:spcPts val="100"/>
              </a:spcAft>
            </a:pPr>
            <a:r>
              <a:rPr sz="1150" b="1" i="0">
                <a:solidFill>
                  <a:srgbClr val="13324B"/>
                </a:solidFill>
                <a:latin typeface="Calibri"/>
              </a:rPr>
              <a:t>Extension</a:t>
            </a:r>
          </a:p>
          <a:p>
            <a:pPr algn="l">
              <a:lnSpc>
                <a:spcPct val="100000"/>
              </a:lnSpc>
              <a:spcAft>
                <a:spcPts val="100"/>
              </a:spcAft>
            </a:pPr>
            <a:r>
              <a:rPr sz="900" b="0" i="0">
                <a:solidFill>
                  <a:srgbClr val="8A9BA8"/>
                </a:solidFill>
                <a:latin typeface="Calibri"/>
              </a:rPr>
              <a:t>Chrome, Safari, iOS</a:t>
            </a:r>
          </a:p>
        </p:txBody>
      </p:sp>
      <p:sp>
        <p:nvSpPr>
          <p:cNvPr id="32" name="Rounded Rectangle 31"/>
          <p:cNvSpPr/>
          <p:nvPr/>
        </p:nvSpPr>
        <p:spPr>
          <a:xfrm>
            <a:off x="594360" y="4937760"/>
            <a:ext cx="11000232" cy="109728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8" y="5102352"/>
            <a:ext cx="10597896" cy="768096"/>
          </a:xfrm>
          <a:prstGeom prst="rect">
            <a:avLst/>
          </a:prstGeom>
          <a:noFill/>
        </p:spPr>
        <p:txBody>
          <a:bodyPr wrap="square" lIns="0" rIns="0" tIns="0" bIns="0">
            <a:spAutoFit/>
          </a:bodyPr>
          <a:lstStyle/>
          <a:p>
            <a:pPr algn="l">
              <a:lnSpc>
                <a:spcPct val="115000"/>
              </a:lnSpc>
              <a:spcAft>
                <a:spcPts val="400"/>
              </a:spcAft>
            </a:pPr>
            <a:r>
              <a:rPr sz="1150" b="1" i="0">
                <a:solidFill>
                  <a:srgbClr val="13324B"/>
                </a:solidFill>
                <a:latin typeface="Calibri"/>
              </a:rPr>
              <a:t>Scheduling.  </a:t>
            </a:r>
            <a:r>
              <a:rPr sz="1150" b="0" i="0">
                <a:solidFill>
                  <a:srgbClr val="33475B"/>
                </a:solidFill>
                <a:latin typeface="Calibri"/>
              </a:rPr>
              <a:t>Six keyword jobs run hourly through the night, analysis runs through the day in small batches, and price matching runs after the analysis window so categories are populated first. The stages never compete for the server’s memory.</a:t>
            </a:r>
          </a:p>
        </p:txBody>
      </p:sp>
      <p:sp>
        <p:nvSpPr>
          <p:cNvPr id="34" name="TextBox 33"/>
          <p:cNvSpPr txBox="1"/>
          <p:nvPr/>
        </p:nvSpPr>
        <p:spPr>
          <a:xfrm>
            <a:off x="11475720" y="6419088"/>
            <a:ext cx="411480" cy="274320"/>
          </a:xfrm>
          <a:prstGeom prst="rect">
            <a:avLst/>
          </a:prstGeom>
          <a:noFill/>
        </p:spPr>
        <p:txBody>
          <a:bodyPr wrap="square" lIns="0" rIns="0" tIns="0" bIns="0">
            <a:spAutoFit/>
          </a:bodyPr>
          <a:lstStyle/>
          <a:p>
            <a:pPr algn="r">
              <a:lnSpc>
                <a:spcPct val="100000"/>
              </a:lnSpc>
              <a:spcAft>
                <a:spcPts val="600"/>
              </a:spcAft>
            </a:pPr>
            <a:r>
              <a:rPr sz="900" b="0" i="0">
                <a:solidFill>
                  <a:srgbClr val="8A9BA8"/>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