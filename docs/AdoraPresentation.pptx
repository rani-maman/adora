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54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 everyone — we're Rani and Guy, project 15002932. Our project is Adora: a Chrome extension that protects Israeli online shoppers from dropshipping scams in real time. Today we'll walk you through the problem, our solution, a live-style demo, the architecture, and how we compare to the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Meet Dora — our representative user. She's 58, lives in Tel Aviv, and spends every evening scrolling Facebook. She's the typical Israeli online shopper: not naive, but trusting, and loves a good deal. One evening she sees a sponsored ad — "Closing sale, 80% off". She clicks through to a clean Hebrew shop with reviews and a countdown timer, and she buys. What she doesn't know: the same product is on AliExpress for roughly 11× less. That's the gap Adora was built to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exact ad Dora saw — Luxora Israel selling a massage gun for ₪99, with a closing-sale banner and an 80%-off pitch. On the right is the same product on AliExpress for ₪9.06 — roughly 11× cheaper at the source. The two stats below summarize the broader pattern: hundreds of new Israeli dropshipping ads run every day, and almost no shopper price-checks against AliExpress, Temu or Amazon before paying. That gap, on a routine purchase, is what Adora 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Adora is a Chrome extension backed by an AI service. It works in three steps: (1) we collect Israeli shopping ads from Meta Ad Library every day; (2) for every ad we score the landing page with Gemini and a rules engine — looking for urgency wording, fake review patterns, mismatched seller info, and the AliExpress price for the same product; (3) when the user lands on a risky page, we surface a heads-up banner with cheaper alternatives — before checkout. We also ship a 21,779-domain whitelist so we never get in the way of Amazon, IKEA, KSP,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second example so you see this isn't a one-off. On the left: a Facebook ad and Israeli site selling a mini Lenovo-style power bank for ₪189.90, claiming 80% off and a closing sale. On the right: the same product on AliExpress for around ₪36. Below the images we've highlighted the four patterns our analyzer flags on this exact page: urgency framing, anchor pricing, fake countdown, and Hebrew-styled trust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what Dora sees the moment she lands on the risky page. (1) A heads-up banner appears in-page — before checkout. (2) She can tap it to see why the site was flagged. (3) Right below, we show the same product on AliExpress, Walmart, and Temu — with one-click links. (4) The savings ratio is highlighted in plain language: "3.9× more expensive". A live demo is available against the production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 runtime, Adora is four steps. (1) Dora browses a site. (2) Our extension scans the domain — first against an embedded 21K-domain whitelist, then a local cache, then the backend. (3) The backend returns a risk score, the evidence, and a cheaper-source match. (4) The verdict is rendered in-page — a banner with alternatives, or nothing if the site is safe. Cached domain checks run under 200ms; full AI analysis under three seconds; the whitelist alone shortcuts ~21K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the left is the actual production architecture diagram. On the right, the stack itself: frontend is a Chrome MV3 extension with React, Vite and Tailwind; the backend is FastAPI on an Oracle Cloud VM behind a Cloudflare Tunnel; data lives in PostgreSQL with structured JSON logs; AI is Gemini 2.5 Flash, scraping is Firecrawl, and our ad source is the Meta Ad Library. Two engineering touches worth calling out: the tunnel URL is auto-discovered — we don't rebuild the extension when the VM restarts — and the embedded 21K-domain whitelist means we make zero API calls on safe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summarize: the problem is that Israeli shoppers face hundreds of polished Hebrew dropshipping ads every day, and the price gap is brutal — 11× was a real number we saw today. Our solution is a Chrome extension plus an AI backend that scores risk in real time and surfaces a cheaper alternative before checkout. The evidence is a live system on Oracle Cloud, a 21K-domain whitelist, daily Meta ad ingestion, and two real cases we reproduced in this presentation. What's next is community-powered: user reports, savings insights, and a feedback loop.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2502563" y="3183791"/>
            <a:ext cx="17197093" cy="114492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200" b="1" i="0" dirty="0">
                <a:solidFill>
                  <a:srgbClr val="1F2A56"/>
                </a:solidFill>
                <a:latin typeface="Calibri"/>
              </a:rPr>
              <a:t>Adora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1219196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2400" b="0" i="0">
                <a:solidFill>
                  <a:srgbClr val="5B5FE9"/>
                </a:solidFill>
                <a:latin typeface="Calibri"/>
              </a:rPr>
              <a:t>Protecting Israeli Consumers Online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547344" y="4754880"/>
            <a:ext cx="1097280" cy="36576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4937760"/>
            <a:ext cx="12191969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14182A"/>
                </a:solidFill>
                <a:latin typeface="Calibri"/>
              </a:rPr>
              <a:t>Software Entrepreneurship Workshop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B708F"/>
                </a:solidFill>
                <a:latin typeface="Calibri"/>
              </a:rPr>
              <a:t>Project #15002932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14182A"/>
                </a:solidFill>
                <a:latin typeface="Calibri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14182A"/>
                </a:solidFill>
                <a:latin typeface="Calibri"/>
              </a:rPr>
              <a:t>Rani Maman   ·   Guy Yad Shalom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B708F"/>
                </a:solidFill>
                <a:latin typeface="Calibri"/>
              </a:rPr>
              <a:t>Supervisor: Dror Margalit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3EA084E3-CE46-9329-7084-7460B38F9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76" y="708636"/>
            <a:ext cx="2590816" cy="2590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 dirty="0">
                <a:solidFill>
                  <a:srgbClr val="1F2A56"/>
                </a:solidFill>
                <a:latin typeface="Calibri"/>
              </a:rPr>
              <a:t>Meet Dora </a:t>
            </a:r>
            <a:r>
              <a:rPr lang="he-IL" sz="3400" b="1" i="0" dirty="0">
                <a:solidFill>
                  <a:srgbClr val="1F2A56"/>
                </a:solidFill>
                <a:latin typeface="Calibri"/>
              </a:rPr>
              <a:t> </a:t>
            </a:r>
            <a:endParaRPr sz="3400" b="1" i="0" dirty="0">
              <a:solidFill>
                <a:srgbClr val="1F2A5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i="1">
                <a:solidFill>
                  <a:srgbClr val="6B708F"/>
                </a:solidFill>
                <a:latin typeface="Calibri"/>
              </a:rPr>
              <a:t>Most of our users start exactly here.</a:t>
            </a:r>
          </a:p>
        </p:txBody>
      </p:sp>
      <p:pic>
        <p:nvPicPr>
          <p:cNvPr id="7" name="Picture 6" descr="dora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91640"/>
            <a:ext cx="274320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2043684"/>
            <a:ext cx="7452360" cy="18425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135124"/>
            <a:ext cx="7132320" cy="17114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i="0" dirty="0">
                <a:solidFill>
                  <a:srgbClr val="1F2A56"/>
                </a:solidFill>
                <a:latin typeface="Calibri"/>
              </a:rPr>
              <a:t>Dora</a:t>
            </a:r>
          </a:p>
          <a:p>
            <a:pPr algn="l">
              <a:lnSpc>
                <a:spcPct val="118000"/>
              </a:lnSpc>
            </a:pPr>
            <a:r>
              <a:rPr sz="1500" b="0" i="0" dirty="0">
                <a:solidFill>
                  <a:srgbClr val="6B708F"/>
                </a:solidFill>
                <a:latin typeface="Calibri"/>
              </a:rPr>
              <a:t>Online shopper </a:t>
            </a:r>
          </a:p>
          <a:p>
            <a:pPr algn="l">
              <a:lnSpc>
                <a:spcPct val="118000"/>
              </a:lnSpc>
            </a:pPr>
            <a:r>
              <a:rPr sz="600" b="0" i="0" dirty="0">
                <a:solidFill>
                  <a:srgbClr val="14182A"/>
                </a:solidFill>
                <a:latin typeface="Calibri"/>
              </a:rPr>
              <a:t> </a:t>
            </a:r>
          </a:p>
          <a:p>
            <a:r>
              <a:rPr lang="en-US" sz="1400" dirty="0"/>
              <a:t>Dora enjoys browsing Facebook in the evening and often clicks on ads that look trustworthy, local, and professional. When she sees a polished Hebrew website with a “closing sale” discount, it feels like a safe deal.</a:t>
            </a:r>
          </a:p>
          <a:p>
            <a:pPr algn="l">
              <a:lnSpc>
                <a:spcPct val="118000"/>
              </a:lnSpc>
            </a:pPr>
            <a:r>
              <a:rPr sz="600" b="0" i="0" dirty="0">
                <a:solidFill>
                  <a:srgbClr val="14182A"/>
                </a:solidFill>
                <a:latin typeface="Calibri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120" y="466344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4720" y="482803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4800" y="4800600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F2A56"/>
                </a:solidFill>
                <a:latin typeface="Calibri"/>
              </a:rPr>
              <a:t>Sees the 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720" y="5230368"/>
            <a:ext cx="2926080" cy="44954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dirty="0">
                <a:solidFill>
                  <a:srgbClr val="14182A"/>
                </a:solidFill>
                <a:latin typeface="Calibri"/>
              </a:rPr>
              <a:t>Sponsored Facebook ad:</a:t>
            </a:r>
          </a:p>
          <a:p>
            <a:pPr algn="l">
              <a:lnSpc>
                <a:spcPct val="110000"/>
              </a:lnSpc>
            </a:pPr>
            <a:r>
              <a:rPr sz="1250" b="0" i="0" dirty="0">
                <a:solidFill>
                  <a:srgbClr val="14182A"/>
                </a:solidFill>
                <a:latin typeface="Calibri"/>
              </a:rPr>
              <a:t>"Closing sale 80% off"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73992" y="5138928"/>
            <a:ext cx="365760" cy="329184"/>
          </a:xfrm>
          <a:prstGeom prst="rightArrow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04344" y="466344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32944" y="482803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3024" y="4800600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F2A56"/>
                </a:solidFill>
                <a:latin typeface="Calibri"/>
              </a:rPr>
              <a:t>Trusts the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944" y="5230368"/>
            <a:ext cx="2926080" cy="6611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 dirty="0">
                <a:solidFill>
                  <a:srgbClr val="14182A"/>
                </a:solidFill>
                <a:latin typeface="Calibri"/>
              </a:rPr>
              <a:t>Polished Hebrew shop,</a:t>
            </a:r>
          </a:p>
          <a:p>
            <a:pPr algn="l">
              <a:lnSpc>
                <a:spcPct val="110000"/>
              </a:lnSpc>
            </a:pPr>
            <a:r>
              <a:rPr sz="1250" b="0" i="0" dirty="0">
                <a:solidFill>
                  <a:srgbClr val="14182A"/>
                </a:solidFill>
                <a:latin typeface="Calibri"/>
              </a:rPr>
              <a:t>countdown timer, big discount</a:t>
            </a:r>
            <a:r>
              <a:rPr lang="en-US" sz="1250" dirty="0">
                <a:solidFill>
                  <a:srgbClr val="14182A"/>
                </a:solidFill>
                <a:latin typeface="Calibri"/>
              </a:rPr>
              <a:t>,</a:t>
            </a:r>
          </a:p>
          <a:p>
            <a:pPr algn="l">
              <a:lnSpc>
                <a:spcPct val="110000"/>
              </a:lnSpc>
            </a:pPr>
            <a:r>
              <a:rPr lang="en-US" sz="1250" dirty="0">
                <a:solidFill>
                  <a:srgbClr val="14182A"/>
                </a:solidFill>
                <a:latin typeface="Calibri"/>
              </a:rPr>
              <a:t>Professional images (AI generated)</a:t>
            </a:r>
            <a:endParaRPr lang="en-US" sz="1250" b="0" i="0" dirty="0">
              <a:solidFill>
                <a:srgbClr val="14182A"/>
              </a:solidFill>
              <a:latin typeface="Calibri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952216" y="5138928"/>
            <a:ext cx="365760" cy="329184"/>
          </a:xfrm>
          <a:prstGeom prst="rightArrow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82568" y="466344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711168" y="482803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48" y="4800600"/>
            <a:ext cx="237744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1F2A56"/>
                </a:solidFill>
                <a:latin typeface="Calibri"/>
              </a:rPr>
              <a:t>Buys at 11× the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1168" y="5230368"/>
            <a:ext cx="29260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4182A"/>
                </a:solidFill>
                <a:latin typeface="Calibri"/>
              </a:rPr>
              <a:t>Same product on AliExpress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4182A"/>
                </a:solidFill>
                <a:latin typeface="Calibri"/>
              </a:rPr>
              <a:t>for a fraction of the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 dirty="0">
                <a:solidFill>
                  <a:srgbClr val="1F2A56"/>
                </a:solidFill>
                <a:latin typeface="Calibri"/>
              </a:rPr>
              <a:t>The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H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idden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P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rice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T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rap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41604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18562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ISRAELI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845570"/>
            <a:ext cx="3284204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b="1" i="0" dirty="0">
                <a:solidFill>
                  <a:srgbClr val="14182A"/>
                </a:solidFill>
                <a:latin typeface="Calibri"/>
              </a:rPr>
              <a:t>Massage Gun · ₪99</a:t>
            </a: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31719"/>
            <a:ext cx="4975844" cy="2800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1724" y="1691640"/>
            <a:ext cx="5341604" cy="4069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02892" y="185623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22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ALIEXPRESS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4804" y="1845570"/>
            <a:ext cx="3375644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b="1" i="0" dirty="0">
                <a:solidFill>
                  <a:srgbClr val="14182A"/>
                </a:solidFill>
                <a:latin typeface="Calibri"/>
              </a:rPr>
              <a:t>Same product · ₪9.06</a:t>
            </a:r>
          </a:p>
        </p:txBody>
      </p:sp>
      <p:pic>
        <p:nvPicPr>
          <p:cNvPr id="14" name="Picture 13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860" y="2286000"/>
            <a:ext cx="4113333" cy="3291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35864" y="3268980"/>
            <a:ext cx="1920240" cy="914400"/>
          </a:xfrm>
          <a:prstGeom prst="roundRect">
            <a:avLst>
              <a:gd name="adj" fmla="val 20000"/>
            </a:avLst>
          </a:prstGeom>
          <a:solidFill>
            <a:srgbClr val="B8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35864" y="3268980"/>
            <a:ext cx="1920240" cy="914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≈ 11× more</a:t>
            </a:r>
          </a:p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expensive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928812"/>
            <a:ext cx="4607927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US" sz="1200" b="0" i="0" dirty="0">
                <a:solidFill>
                  <a:srgbClr val="14182A"/>
                </a:solidFill>
                <a:latin typeface="Calibri"/>
              </a:rPr>
              <a:t>H</a:t>
            </a:r>
            <a:r>
              <a:rPr lang="en-US" sz="1200" dirty="0">
                <a:solidFill>
                  <a:srgbClr val="14182A"/>
                </a:solidFill>
                <a:latin typeface="Calibri"/>
              </a:rPr>
              <a:t>undreds </a:t>
            </a:r>
            <a:r>
              <a:rPr sz="1200" b="0" i="0" dirty="0">
                <a:solidFill>
                  <a:srgbClr val="14182A"/>
                </a:solidFill>
                <a:latin typeface="Calibri"/>
              </a:rPr>
              <a:t>of </a:t>
            </a:r>
            <a:r>
              <a:rPr sz="1200" b="0" i="0" dirty="0" err="1">
                <a:solidFill>
                  <a:srgbClr val="14182A"/>
                </a:solidFill>
                <a:latin typeface="Calibri"/>
              </a:rPr>
              <a:t>dropshipping</a:t>
            </a:r>
            <a:r>
              <a:rPr sz="1200" b="0" i="0" dirty="0">
                <a:solidFill>
                  <a:srgbClr val="14182A"/>
                </a:solidFill>
                <a:latin typeface="Calibri"/>
              </a:rPr>
              <a:t> ads launched in Israel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 dirty="0">
                <a:solidFill>
                  <a:srgbClr val="1F2A56"/>
                </a:solidFill>
                <a:latin typeface="Calibri"/>
              </a:rPr>
              <a:t>Our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S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olution: Adora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155680" cy="2677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0" dirty="0">
                <a:solidFill>
                  <a:srgbClr val="14182A"/>
                </a:solidFill>
                <a:latin typeface="Calibri"/>
              </a:rPr>
              <a:t>A </a:t>
            </a:r>
            <a:r>
              <a:rPr lang="en-US" sz="1500" b="0" i="0" dirty="0">
                <a:solidFill>
                  <a:srgbClr val="14182A"/>
                </a:solidFill>
                <a:latin typeface="Calibri"/>
              </a:rPr>
              <a:t>system</a:t>
            </a:r>
            <a:r>
              <a:rPr sz="1500" b="0" i="0" dirty="0">
                <a:solidFill>
                  <a:srgbClr val="14182A"/>
                </a:solidFill>
                <a:latin typeface="Calibri"/>
              </a:rPr>
              <a:t> that spots </a:t>
            </a:r>
            <a:r>
              <a:rPr sz="1500" b="0" i="0" dirty="0" err="1">
                <a:solidFill>
                  <a:srgbClr val="14182A"/>
                </a:solidFill>
                <a:latin typeface="Calibri"/>
              </a:rPr>
              <a:t>dropshipping</a:t>
            </a:r>
            <a:r>
              <a:rPr sz="1500" b="0" i="0" dirty="0">
                <a:solidFill>
                  <a:srgbClr val="14182A"/>
                </a:solidFill>
                <a:latin typeface="Calibri"/>
              </a:rPr>
              <a:t> ads in real time and shows where the same product is cheaper</a:t>
            </a:r>
            <a:r>
              <a:rPr lang="he-IL" sz="1500" b="0" i="0" dirty="0">
                <a:solidFill>
                  <a:srgbClr val="14182A"/>
                </a:solidFill>
                <a:latin typeface="Calibri"/>
              </a:rPr>
              <a:t> - </a:t>
            </a:r>
            <a:r>
              <a:rPr lang="en-US" sz="1500" b="0" i="0" dirty="0">
                <a:solidFill>
                  <a:srgbClr val="14182A"/>
                </a:solidFill>
                <a:latin typeface="Calibri"/>
              </a:rPr>
              <a:t>Y</a:t>
            </a:r>
            <a:r>
              <a:rPr sz="1500" b="0" i="0" dirty="0">
                <a:solidFill>
                  <a:srgbClr val="14182A"/>
                </a:solidFill>
                <a:latin typeface="Calibri"/>
              </a:rPr>
              <a:t>our lighthouse for online shopping.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75104"/>
            <a:ext cx="3454389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75104"/>
            <a:ext cx="3454389" cy="146304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2304288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16352"/>
            <a:ext cx="2905749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1F2A56"/>
                </a:solidFill>
                <a:latin typeface="Calibri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10128"/>
            <a:ext cx="290574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1">
                <a:solidFill>
                  <a:srgbClr val="3F46C4"/>
                </a:solidFill>
                <a:latin typeface="Calibri"/>
              </a:rPr>
              <a:t>Israeli ads · daily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3730752"/>
            <a:ext cx="731520" cy="2286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895344"/>
            <a:ext cx="2905749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>
                <a:solidFill>
                  <a:srgbClr val="14182A"/>
                </a:solidFill>
                <a:latin typeface="Calibri"/>
              </a:rPr>
              <a:t>We scrape Meta Ad Library every day and store every Israeli shopping ad. We watch the same feed Dora scrolls.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8789" y="1975104"/>
            <a:ext cx="3454389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8789" y="1975104"/>
            <a:ext cx="3454389" cy="146304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43109" y="2304288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109" y="2816352"/>
            <a:ext cx="2905749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1F2A56"/>
                </a:solidFill>
                <a:latin typeface="Calibri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109" y="3310128"/>
            <a:ext cx="290574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1">
                <a:solidFill>
                  <a:srgbClr val="3F46C4"/>
                </a:solidFill>
                <a:latin typeface="Calibri"/>
              </a:rPr>
              <a:t>AI risk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3109" y="3730752"/>
            <a:ext cx="731520" cy="2286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43109" y="3895344"/>
            <a:ext cx="2905749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14182A"/>
                </a:solidFill>
                <a:latin typeface="Calibri"/>
              </a:rPr>
              <a:t>Each landing page is scored by Gemini 2.5 Flash + rule-based checks: urgency wording, fake reviews, mismatched seller info, AliExpress price match.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8939" y="1975104"/>
            <a:ext cx="3454389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8939" y="1975104"/>
            <a:ext cx="3454389" cy="146304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63259" y="2304288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3259" y="2816352"/>
            <a:ext cx="2905749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>
                <a:solidFill>
                  <a:srgbClr val="1F2A56"/>
                </a:solidFill>
                <a:latin typeface="Calibri"/>
              </a:rPr>
              <a:t>Alert + Suggest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3259" y="3310128"/>
            <a:ext cx="2905749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0" i="1">
                <a:solidFill>
                  <a:srgbClr val="3F46C4"/>
                </a:solidFill>
                <a:latin typeface="Calibri"/>
              </a:rPr>
              <a:t>Cheaper 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3259" y="3730752"/>
            <a:ext cx="731520" cy="2286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63259" y="3895344"/>
            <a:ext cx="2905749" cy="61401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14182A"/>
                </a:solidFill>
                <a:latin typeface="Calibri"/>
              </a:rPr>
              <a:t>Risky stores get a heads-up banner with a price comparison to AliExpress / </a:t>
            </a:r>
            <a:r>
              <a:rPr sz="1250" b="0" i="0" dirty="0" err="1">
                <a:solidFill>
                  <a:srgbClr val="14182A"/>
                </a:solidFill>
                <a:latin typeface="Calibri"/>
              </a:rPr>
              <a:t>Temu</a:t>
            </a:r>
            <a:r>
              <a:rPr sz="1250" b="0" i="0" dirty="0">
                <a:solidFill>
                  <a:srgbClr val="14182A"/>
                </a:solidFill>
                <a:latin typeface="Calibri"/>
              </a:rPr>
              <a:t> / Amazon </a:t>
            </a:r>
            <a:r>
              <a:rPr lang="he-IL" sz="1250" b="0" i="0" dirty="0">
                <a:solidFill>
                  <a:srgbClr val="14182A"/>
                </a:solidFill>
                <a:latin typeface="Calibri"/>
              </a:rPr>
              <a:t>-</a:t>
            </a:r>
            <a:r>
              <a:rPr sz="1250" b="0" i="0" dirty="0">
                <a:solidFill>
                  <a:srgbClr val="14182A"/>
                </a:solidFill>
                <a:latin typeface="Calibri"/>
              </a:rPr>
              <a:t> before checkout, not after.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60720"/>
            <a:ext cx="11094689" cy="5029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5855214"/>
            <a:ext cx="10546049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he-IL" sz="1800" b="1" i="0" dirty="0">
                <a:solidFill>
                  <a:srgbClr val="3F46C4"/>
                </a:solidFill>
                <a:latin typeface="Calibri"/>
              </a:rPr>
              <a:t>22</a:t>
            </a:r>
            <a:r>
              <a:rPr lang="en-US" sz="1800" b="1" i="0" dirty="0">
                <a:solidFill>
                  <a:srgbClr val="3F46C4"/>
                </a:solidFill>
                <a:latin typeface="Calibri"/>
              </a:rPr>
              <a:t>K</a:t>
            </a:r>
            <a:r>
              <a:rPr sz="1400" b="0" i="0" dirty="0">
                <a:solidFill>
                  <a:srgbClr val="14182A"/>
                </a:solidFill>
                <a:latin typeface="Calibri"/>
              </a:rPr>
              <a:t>  trusted Israeli &amp; global domains shipped inside the extension </a:t>
            </a:r>
            <a:r>
              <a:rPr lang="he-IL" sz="1400" b="0" i="0" dirty="0">
                <a:solidFill>
                  <a:srgbClr val="14182A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14182A"/>
                </a:solidFill>
                <a:latin typeface="Calibri"/>
              </a:rPr>
              <a:t> Adora skips the noise and only intervenes on real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 dirty="0">
                <a:solidFill>
                  <a:srgbClr val="1F2A56"/>
                </a:solidFill>
                <a:latin typeface="Calibri"/>
              </a:rPr>
              <a:t>Demo </a:t>
            </a:r>
            <a:r>
              <a:rPr lang="he-IL" sz="3400" b="1" i="0" dirty="0">
                <a:solidFill>
                  <a:srgbClr val="1F2A56"/>
                </a:solidFill>
                <a:latin typeface="Calibri"/>
              </a:rPr>
              <a:t>-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S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potting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T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he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T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>
                <a:solidFill>
                  <a:srgbClr val="6B708F"/>
                </a:solidFill>
                <a:latin typeface="Calibri"/>
              </a:rPr>
              <a:t>A second real example: a mini power bank advertised at 80% 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64464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185623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FB AD + ISRAELI SITE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088" y="2295144"/>
            <a:ext cx="3401568" cy="25511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78864" y="1691640"/>
            <a:ext cx="5364464" cy="3337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80032" y="185623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22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ALIEXPRESS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1944" y="1866227"/>
            <a:ext cx="3398504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b="1" i="0" dirty="0">
                <a:solidFill>
                  <a:srgbClr val="14182A"/>
                </a:solidFill>
                <a:latin typeface="Calibri"/>
              </a:rPr>
              <a:t>Same power bank · ₪36</a:t>
            </a:r>
          </a:p>
        </p:txBody>
      </p:sp>
      <p:pic>
        <p:nvPicPr>
          <p:cNvPr id="13" name="Picture 12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060" y="2295144"/>
            <a:ext cx="4952072" cy="25511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5212080"/>
            <a:ext cx="260222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5303520"/>
            <a:ext cx="232790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B82B2B"/>
                </a:solidFill>
                <a:latin typeface="Calibri"/>
              </a:rPr>
              <a:t>"Closing sale"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232790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6B708F"/>
                </a:solidFill>
                <a:latin typeface="Calibri"/>
              </a:rPr>
              <a:t>Urgency framing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9462" y="5212080"/>
            <a:ext cx="260222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16622" y="5303520"/>
            <a:ext cx="232790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B82B2B"/>
                </a:solidFill>
                <a:latin typeface="Calibri"/>
              </a:rPr>
              <a:t>80%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6622" y="5623560"/>
            <a:ext cx="232790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6B708F"/>
                </a:solidFill>
                <a:latin typeface="Calibri"/>
              </a:rPr>
              <a:t>Anchor pricing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284" y="5212080"/>
            <a:ext cx="260222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7444" y="5303520"/>
            <a:ext cx="232790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B82B2B"/>
                </a:solidFill>
                <a:latin typeface="Calibri"/>
              </a:rPr>
              <a:t>Countdown timer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444" y="5623560"/>
            <a:ext cx="232790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0">
                <a:solidFill>
                  <a:srgbClr val="6B708F"/>
                </a:solidFill>
                <a:latin typeface="Calibri"/>
              </a:rPr>
              <a:t>Fake scarcity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1107" y="5212080"/>
            <a:ext cx="260222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78267" y="5315941"/>
            <a:ext cx="2327902" cy="2677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500" b="1" i="0" dirty="0">
                <a:solidFill>
                  <a:srgbClr val="B82B2B"/>
                </a:solidFill>
                <a:latin typeface="Calibri"/>
              </a:rPr>
              <a:t>Fake reviews</a:t>
            </a:r>
            <a:endParaRPr sz="1500" b="1" i="0" dirty="0">
              <a:solidFill>
                <a:srgbClr val="B82B2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78267" y="5657615"/>
            <a:ext cx="2327902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100" b="0" i="0" dirty="0">
                <a:solidFill>
                  <a:srgbClr val="6B708F"/>
                </a:solidFill>
                <a:latin typeface="Calibri"/>
              </a:rPr>
              <a:t>AI</a:t>
            </a:r>
            <a:r>
              <a:rPr lang="he-IL" sz="1100" b="0" i="0" dirty="0">
                <a:solidFill>
                  <a:srgbClr val="6B708F"/>
                </a:solidFill>
                <a:latin typeface="Calibri"/>
              </a:rPr>
              <a:t>-</a:t>
            </a:r>
            <a:r>
              <a:rPr lang="en-US" sz="1100" b="0" i="0" dirty="0">
                <a:solidFill>
                  <a:srgbClr val="6B708F"/>
                </a:solidFill>
                <a:latin typeface="Calibri"/>
              </a:rPr>
              <a:t>Generated reviews</a:t>
            </a:r>
            <a:endParaRPr sz="1100" b="0" i="0" dirty="0">
              <a:solidFill>
                <a:srgbClr val="6B708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080760"/>
            <a:ext cx="11094689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i="1">
                <a:solidFill>
                  <a:srgbClr val="6B708F"/>
                </a:solidFill>
                <a:latin typeface="Calibri"/>
              </a:rPr>
              <a:t>These are the exact patterns Adora's analyzer is trained to detect.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 dirty="0">
                <a:solidFill>
                  <a:srgbClr val="1F2A56"/>
                </a:solidFill>
                <a:latin typeface="Calibri"/>
              </a:rPr>
              <a:t>Demo </a:t>
            </a:r>
            <a:r>
              <a:rPr lang="he-IL" sz="3400" b="1" i="0" dirty="0">
                <a:solidFill>
                  <a:srgbClr val="1F2A56"/>
                </a:solidFill>
                <a:latin typeface="Calibri"/>
              </a:rPr>
              <a:t>-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 Adora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I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n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A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>
                <a:solidFill>
                  <a:srgbClr val="6B708F"/>
                </a:solidFill>
                <a:latin typeface="Calibri"/>
              </a:rPr>
              <a:t>What Dora now sees the moment she lands on the risky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8272" y="1618488"/>
            <a:ext cx="4535424" cy="3666744"/>
          </a:xfrm>
          <a:prstGeom prst="roundRect">
            <a:avLst>
              <a:gd name="adj" fmla="val 4000"/>
            </a:avLst>
          </a:prstGeom>
          <a:solidFill>
            <a:srgbClr val="EC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147" y="1783080"/>
            <a:ext cx="4133675" cy="3337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1828800"/>
            <a:ext cx="316990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993392"/>
            <a:ext cx="239266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F2A56"/>
                </a:solidFill>
                <a:latin typeface="Calibri"/>
              </a:rPr>
              <a:t>Heads-up banner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804144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4182A"/>
                </a:solidFill>
                <a:latin typeface="Calibri"/>
              </a:rPr>
              <a:t>We tell users early </a:t>
            </a:r>
            <a:r>
              <a:rPr lang="he-IL" sz="1200" b="0" i="0" dirty="0">
                <a:solidFill>
                  <a:srgbClr val="14182A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14182A"/>
                </a:solidFill>
                <a:latin typeface="Calibri"/>
              </a:rPr>
              <a:t> before checkout, not after.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316990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593592"/>
            <a:ext cx="2392664" cy="4985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500" b="1" dirty="0">
                <a:solidFill>
                  <a:srgbClr val="1F2A56"/>
                </a:solidFill>
              </a:rPr>
              <a:t>Cheaper alternatives</a:t>
            </a:r>
          </a:p>
          <a:p>
            <a:pPr algn="l"/>
            <a:endParaRPr sz="1500" b="1" i="0" dirty="0">
              <a:solidFill>
                <a:srgbClr val="1F2A56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2804144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200" dirty="0">
                <a:solidFill>
                  <a:srgbClr val="14182A"/>
                </a:solidFill>
              </a:rPr>
              <a:t>Direct links to the same product on AliExpress, Walmart, </a:t>
            </a:r>
            <a:r>
              <a:rPr lang="en-US" sz="1200" dirty="0" err="1">
                <a:solidFill>
                  <a:srgbClr val="14182A"/>
                </a:solidFill>
              </a:rPr>
              <a:t>Temu</a:t>
            </a:r>
            <a:r>
              <a:rPr lang="en-US" sz="1200" dirty="0">
                <a:solidFill>
                  <a:srgbClr val="14182A"/>
                </a:solidFill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3425" y="3439671"/>
            <a:ext cx="316990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56305" y="3622551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4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13505" y="3604263"/>
            <a:ext cx="2392664" cy="2677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500" b="1" i="0" dirty="0">
                <a:solidFill>
                  <a:srgbClr val="1F2A56"/>
                </a:solidFill>
                <a:latin typeface="Calibri"/>
              </a:rPr>
              <a:t>Total money saved</a:t>
            </a:r>
            <a:endParaRPr sz="1500" b="1" i="0" dirty="0">
              <a:solidFill>
                <a:srgbClr val="1F2A56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56305" y="4034031"/>
            <a:ext cx="2804144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200" b="0" i="0" dirty="0">
                <a:solidFill>
                  <a:srgbClr val="14182A"/>
                </a:solidFill>
                <a:latin typeface="Calibri"/>
              </a:rPr>
              <a:t>An indicator that tells the user the amount of money he saved over time.</a:t>
            </a:r>
            <a:endParaRPr sz="1200" b="0" i="0" dirty="0">
              <a:solidFill>
                <a:srgbClr val="14182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473425" y="1793751"/>
            <a:ext cx="3169904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56305" y="1976631"/>
            <a:ext cx="365760" cy="274320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3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3505" y="1958343"/>
            <a:ext cx="2392664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1" i="0">
                <a:solidFill>
                  <a:srgbClr val="1F2A56"/>
                </a:solidFill>
                <a:latin typeface="Calibri"/>
              </a:rPr>
              <a:t>Savings highlighted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305" y="2388111"/>
            <a:ext cx="2804144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14182A"/>
                </a:solidFill>
                <a:latin typeface="Calibri"/>
              </a:rPr>
              <a:t>"3.9× more expensive" </a:t>
            </a:r>
            <a:r>
              <a:rPr lang="he-IL" sz="1200" b="0" i="0" dirty="0">
                <a:solidFill>
                  <a:srgbClr val="14182A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14182A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14182A"/>
                </a:solidFill>
                <a:latin typeface="Calibri"/>
              </a:rPr>
              <a:t>u</a:t>
            </a:r>
            <a:r>
              <a:rPr lang="en-US" sz="1200" dirty="0">
                <a:solidFill>
                  <a:srgbClr val="14182A"/>
                </a:solidFill>
                <a:latin typeface="Calibri"/>
              </a:rPr>
              <a:t>ser</a:t>
            </a:r>
            <a:r>
              <a:rPr sz="1200" b="0" i="0" dirty="0">
                <a:solidFill>
                  <a:srgbClr val="14182A"/>
                </a:solidFill>
                <a:latin typeface="Calibri"/>
              </a:rPr>
              <a:t> reads one number.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42432"/>
            <a:ext cx="11094689" cy="493776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855214"/>
            <a:ext cx="11094689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b="1" i="0" dirty="0">
                <a:solidFill>
                  <a:srgbClr val="3F46C4"/>
                </a:solidFill>
                <a:latin typeface="Calibri"/>
              </a:rPr>
              <a:t>Live demo</a:t>
            </a:r>
            <a:r>
              <a:rPr lang="en-US" b="0" i="0" dirty="0">
                <a:solidFill>
                  <a:srgbClr val="14182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0968FC98-F8D7-78A3-B0B0-BB32565FCC01}"/>
              </a:ext>
            </a:extLst>
          </p:cNvPr>
          <p:cNvSpPr/>
          <p:nvPr/>
        </p:nvSpPr>
        <p:spPr>
          <a:xfrm>
            <a:off x="9225419" y="2227900"/>
            <a:ext cx="2869029" cy="2587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dirty="0"/>
          </a:p>
        </p:txBody>
      </p:sp>
      <p:sp>
        <p:nvSpPr>
          <p:cNvPr id="34" name="Rounded Rectangle 6">
            <a:extLst>
              <a:ext uri="{FF2B5EF4-FFF2-40B4-BE49-F238E27FC236}">
                <a16:creationId xmlns:a16="http://schemas.microsoft.com/office/drawing/2014/main" id="{B8A0199F-15C9-CFA4-7D99-7B90B397535A}"/>
              </a:ext>
            </a:extLst>
          </p:cNvPr>
          <p:cNvSpPr/>
          <p:nvPr/>
        </p:nvSpPr>
        <p:spPr>
          <a:xfrm>
            <a:off x="6206805" y="2227900"/>
            <a:ext cx="2869029" cy="2587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dirty="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486627B8-62F5-D3AF-5827-1CD2D9C957BA}"/>
              </a:ext>
            </a:extLst>
          </p:cNvPr>
          <p:cNvSpPr/>
          <p:nvPr/>
        </p:nvSpPr>
        <p:spPr>
          <a:xfrm>
            <a:off x="3188192" y="2221992"/>
            <a:ext cx="2869029" cy="2587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 dirty="0">
                <a:solidFill>
                  <a:srgbClr val="1F2A56"/>
                </a:solidFill>
                <a:latin typeface="Calibri"/>
              </a:rPr>
              <a:t>Architecture </a:t>
            </a:r>
            <a:r>
              <a:rPr lang="he-IL" sz="3400" b="1" i="0" dirty="0">
                <a:solidFill>
                  <a:srgbClr val="1F2A56"/>
                </a:solidFill>
                <a:latin typeface="Calibri"/>
              </a:rPr>
              <a:t>-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 User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521" y="2221992"/>
            <a:ext cx="2869029" cy="2587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55665" y="2220340"/>
            <a:ext cx="2858791" cy="201797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" y="255015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679" y="2843961"/>
            <a:ext cx="196596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1F2A56"/>
                </a:solidFill>
                <a:latin typeface="Calibri"/>
              </a:rPr>
              <a:t>User browses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574" y="3237375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i="1" dirty="0">
                <a:solidFill>
                  <a:srgbClr val="5B5FE9"/>
                </a:solidFill>
                <a:latin typeface="Calibri"/>
              </a:rPr>
              <a:t>Israeli </a:t>
            </a:r>
            <a:r>
              <a:rPr lang="en-US" sz="1400" i="1" dirty="0">
                <a:solidFill>
                  <a:srgbClr val="5B5FE9"/>
                </a:solidFill>
                <a:latin typeface="Calibri"/>
              </a:rPr>
              <a:t>E</a:t>
            </a:r>
            <a:r>
              <a:rPr sz="1400" i="1" dirty="0">
                <a:solidFill>
                  <a:srgbClr val="5B5FE9"/>
                </a:solidFill>
                <a:latin typeface="Calibri"/>
              </a:rPr>
              <a:t>-commerce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893" y="3545457"/>
            <a:ext cx="2542031" cy="529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600" dirty="0">
                <a:solidFill>
                  <a:srgbClr val="14182A"/>
                </a:solidFill>
                <a:latin typeface="Calibri"/>
              </a:rPr>
              <a:t>User</a:t>
            </a:r>
            <a:r>
              <a:rPr sz="1600" b="0" i="0" dirty="0">
                <a:solidFill>
                  <a:srgbClr val="14182A"/>
                </a:solidFill>
                <a:latin typeface="Calibri"/>
              </a:rPr>
              <a:t> opens any ad-driven shop in Chrome.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14966" y="3275517"/>
            <a:ext cx="384048" cy="329184"/>
          </a:xfrm>
          <a:prstGeom prst="rightArrow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93310" y="2227900"/>
            <a:ext cx="2858791" cy="215512"/>
          </a:xfrm>
          <a:prstGeom prst="rect">
            <a:avLst/>
          </a:prstGeom>
          <a:solidFill>
            <a:srgbClr val="3F4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68895" y="255015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3F4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9633" y="2834817"/>
            <a:ext cx="2272481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1F2A56"/>
                </a:solidFill>
                <a:latin typeface="Calibri"/>
              </a:rPr>
              <a:t>Extension scans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5985" y="3248011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 dirty="0">
                <a:solidFill>
                  <a:srgbClr val="3F46C4"/>
                </a:solidFill>
                <a:latin typeface="Calibri"/>
              </a:rPr>
              <a:t>Domain + page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9633" y="3552522"/>
            <a:ext cx="2747575" cy="529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182A"/>
                </a:solidFill>
                <a:latin typeface="Calibri"/>
              </a:rPr>
              <a:t>Whitelist (</a:t>
            </a:r>
            <a:r>
              <a:rPr lang="he-IL" sz="1600" b="0" i="0" dirty="0">
                <a:solidFill>
                  <a:srgbClr val="14182A"/>
                </a:solidFill>
                <a:latin typeface="Calibri"/>
              </a:rPr>
              <a:t>2</a:t>
            </a:r>
            <a:r>
              <a:rPr lang="he-IL" sz="1600" dirty="0">
                <a:solidFill>
                  <a:srgbClr val="14182A"/>
                </a:solidFill>
                <a:latin typeface="Calibri"/>
              </a:rPr>
              <a:t>2</a:t>
            </a:r>
            <a:r>
              <a:rPr sz="1600" b="0" i="0" dirty="0">
                <a:solidFill>
                  <a:srgbClr val="14182A"/>
                </a:solidFill>
                <a:latin typeface="Calibri"/>
              </a:rPr>
              <a:t>K) → local cache → API call only if needed.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6637" y="3264407"/>
            <a:ext cx="384048" cy="329184"/>
          </a:xfrm>
          <a:prstGeom prst="rightArrow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9007" y="2238137"/>
            <a:ext cx="2845971" cy="221599"/>
          </a:xfrm>
          <a:prstGeom prst="rect">
            <a:avLst/>
          </a:prstGeom>
          <a:solidFill>
            <a:srgbClr val="1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6340685" y="2550154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1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0685" y="2834817"/>
            <a:ext cx="2354778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1F2A56"/>
                </a:solidFill>
                <a:latin typeface="Calibri"/>
              </a:rPr>
              <a:t>Backend scores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182" y="3199555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400" b="0" i="1" dirty="0">
                <a:solidFill>
                  <a:srgbClr val="1F2A56"/>
                </a:solidFill>
                <a:latin typeface="Calibri"/>
              </a:rPr>
              <a:t>Python</a:t>
            </a:r>
            <a:r>
              <a:rPr sz="1400" b="0" i="1" dirty="0">
                <a:solidFill>
                  <a:srgbClr val="1F2A56"/>
                </a:solidFill>
                <a:latin typeface="Calibri"/>
              </a:rPr>
              <a:t> · Postgres · 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4258" y="3545457"/>
            <a:ext cx="2604946" cy="529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182A"/>
                </a:solidFill>
                <a:latin typeface="Calibri"/>
              </a:rPr>
              <a:t>Risk score, evidence, and cheaper-source match.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998307" y="3259370"/>
            <a:ext cx="384048" cy="329184"/>
          </a:xfrm>
          <a:prstGeom prst="rightArrow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9216273" y="2237605"/>
            <a:ext cx="2858791" cy="201797"/>
          </a:xfrm>
          <a:prstGeom prst="rect">
            <a:avLst/>
          </a:prstGeom>
          <a:solidFill>
            <a:srgbClr val="22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9382355" y="254403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22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9916" y="2844744"/>
            <a:ext cx="2393539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1F2A56"/>
                </a:solidFill>
                <a:latin typeface="Calibri"/>
              </a:rPr>
              <a:t>Verdict in-page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6852" y="3199555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1" dirty="0">
                <a:solidFill>
                  <a:srgbClr val="22A15E"/>
                </a:solidFill>
                <a:latin typeface="Calibri"/>
              </a:rPr>
              <a:t>Banner + alternatives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9948" y="3515868"/>
            <a:ext cx="2660029" cy="7755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182A"/>
                </a:solidFill>
                <a:latin typeface="Calibri"/>
              </a:rPr>
              <a:t>Warning + price comparison</a:t>
            </a:r>
            <a:r>
              <a:rPr lang="en-US" sz="1600" b="0" i="0" dirty="0">
                <a:solidFill>
                  <a:srgbClr val="14182A"/>
                </a:solidFill>
                <a:latin typeface="Calibri"/>
              </a:rPr>
              <a:t> and direct product links</a:t>
            </a:r>
            <a:r>
              <a:rPr sz="1600" b="0" i="0" dirty="0">
                <a:solidFill>
                  <a:srgbClr val="14182A"/>
                </a:solidFill>
                <a:latin typeface="Calibri"/>
              </a:rPr>
              <a:t>  </a:t>
            </a:r>
            <a:endParaRPr lang="en-US" sz="1600" b="0" i="0" dirty="0">
              <a:solidFill>
                <a:srgbClr val="14182A"/>
              </a:solidFill>
              <a:latin typeface="Calibri"/>
            </a:endParaRPr>
          </a:p>
          <a:p>
            <a:pPr algn="l"/>
            <a:r>
              <a:rPr sz="1600" b="0" i="0" dirty="0">
                <a:solidFill>
                  <a:srgbClr val="14182A"/>
                </a:solidFill>
                <a:latin typeface="Calibri"/>
              </a:rPr>
              <a:t>or silent if safe.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 dirty="0">
                <a:solidFill>
                  <a:srgbClr val="1F2A56"/>
                </a:solidFill>
                <a:latin typeface="Calibri"/>
              </a:rPr>
              <a:t>Architecture </a:t>
            </a:r>
            <a:r>
              <a:rPr lang="he-IL" sz="3400" b="1" i="0" dirty="0">
                <a:solidFill>
                  <a:srgbClr val="1F2A56"/>
                </a:solidFill>
                <a:latin typeface="Calibri"/>
              </a:rPr>
              <a:t>-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 Tech </a:t>
            </a:r>
            <a:r>
              <a:rPr lang="en-US" sz="3400" b="1" i="0" dirty="0">
                <a:solidFill>
                  <a:srgbClr val="1F2A56"/>
                </a:solidFill>
                <a:latin typeface="Calibri"/>
              </a:rPr>
              <a:t>S</a:t>
            </a:r>
            <a:r>
              <a:rPr sz="3400" b="1" i="0" dirty="0">
                <a:solidFill>
                  <a:srgbClr val="1F2A56"/>
                </a:solidFill>
                <a:latin typeface="Calibri"/>
              </a:rPr>
              <a:t>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>
                <a:solidFill>
                  <a:srgbClr val="6B708F"/>
                </a:solidFill>
                <a:latin typeface="Calibri"/>
              </a:rPr>
              <a:t>How those four steps actually run in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" y="1600200"/>
            <a:ext cx="8394191" cy="4251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rcRect b="16133"/>
          <a:stretch>
            <a:fillRect/>
          </a:stretch>
        </p:blipFill>
        <p:spPr>
          <a:xfrm>
            <a:off x="192023" y="1746503"/>
            <a:ext cx="8229600" cy="3923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9096" y="1481815"/>
            <a:ext cx="2865089" cy="52937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200" b="1" i="0" dirty="0">
                <a:solidFill>
                  <a:srgbClr val="1F2A56"/>
                </a:solidFill>
                <a:latin typeface="Calibri"/>
              </a:rPr>
              <a:t>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69096" y="2112751"/>
            <a:ext cx="54864" cy="62865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3688" y="2021311"/>
            <a:ext cx="2700497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3F46C4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2350495"/>
            <a:ext cx="2700497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14182A"/>
                </a:solidFill>
                <a:latin typeface="Calibri"/>
              </a:rPr>
              <a:t>Chrome MV3 · React · Vite · Tailwind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69096" y="2951712"/>
            <a:ext cx="54864" cy="898707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24544" y="2873623"/>
            <a:ext cx="2700497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3F46C4"/>
                </a:solidFill>
                <a:latin typeface="Calibr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1" y="3152215"/>
            <a:ext cx="3493009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he-IL" sz="1400" b="0" i="0" dirty="0">
                <a:solidFill>
                  <a:srgbClr val="14182A"/>
                </a:solidFill>
                <a:latin typeface="Calibri"/>
              </a:rPr>
              <a:t>  </a:t>
            </a:r>
            <a:r>
              <a:rPr lang="en-US" sz="1400" b="0" i="0" dirty="0">
                <a:solidFill>
                  <a:srgbClr val="14182A"/>
                </a:solidFill>
                <a:latin typeface="Calibri"/>
              </a:rPr>
              <a:t>Python</a:t>
            </a:r>
            <a:r>
              <a:rPr sz="1400" b="0" i="0" dirty="0">
                <a:solidFill>
                  <a:srgbClr val="14182A"/>
                </a:solidFill>
                <a:latin typeface="Calibri"/>
              </a:rPr>
              <a:t> on Oracle Cloud </a:t>
            </a:r>
            <a:r>
              <a:rPr lang="he-IL" sz="1400" b="0" i="0" dirty="0">
                <a:solidFill>
                  <a:srgbClr val="14182A"/>
                </a:solidFill>
                <a:latin typeface="Calibri"/>
              </a:rPr>
              <a:t>· </a:t>
            </a:r>
            <a:r>
              <a:rPr sz="1400" b="0" i="0" dirty="0">
                <a:solidFill>
                  <a:srgbClr val="14182A"/>
                </a:solidFill>
                <a:latin typeface="Calibri"/>
              </a:rPr>
              <a:t>Cloudflare Tunnel</a:t>
            </a:r>
            <a:r>
              <a:rPr lang="he-IL" sz="1400" b="0" i="0" dirty="0">
                <a:solidFill>
                  <a:srgbClr val="14182A"/>
                </a:solidFill>
                <a:latin typeface="Calibri"/>
              </a:rPr>
              <a:t> </a:t>
            </a:r>
            <a:endParaRPr lang="en-US" sz="1400" b="0" i="0" dirty="0">
              <a:solidFill>
                <a:srgbClr val="14182A"/>
              </a:solidFill>
              <a:latin typeface="Calibri"/>
            </a:endParaRPr>
          </a:p>
          <a:p>
            <a:r>
              <a:rPr lang="en-US" sz="1400" dirty="0">
                <a:solidFill>
                  <a:srgbClr val="14182A"/>
                </a:solidFill>
              </a:rPr>
              <a:t>   Playwright Scraping </a:t>
            </a:r>
            <a:r>
              <a:rPr lang="he-IL" sz="1400" dirty="0">
                <a:solidFill>
                  <a:srgbClr val="14182A"/>
                </a:solidFill>
              </a:rPr>
              <a:t>· </a:t>
            </a:r>
            <a:r>
              <a:rPr lang="en-US" sz="1400" dirty="0">
                <a:solidFill>
                  <a:srgbClr val="14182A"/>
                </a:solidFill>
              </a:rPr>
              <a:t> OAuth 2.0</a:t>
            </a:r>
          </a:p>
          <a:p>
            <a:r>
              <a:rPr lang="en-US" sz="1400" dirty="0">
                <a:solidFill>
                  <a:srgbClr val="14182A"/>
                </a:solidFill>
              </a:rPr>
              <a:t>   Python Scripts and </a:t>
            </a:r>
            <a:r>
              <a:rPr lang="en-US" sz="1400" dirty="0" err="1">
                <a:solidFill>
                  <a:srgbClr val="14182A"/>
                </a:solidFill>
              </a:rPr>
              <a:t>cron</a:t>
            </a:r>
            <a:r>
              <a:rPr lang="en-US" sz="1400" dirty="0">
                <a:solidFill>
                  <a:srgbClr val="14182A"/>
                </a:solidFill>
              </a:rPr>
              <a:t> jobs </a:t>
            </a:r>
            <a:endParaRPr sz="1400" b="0" i="0" dirty="0">
              <a:solidFill>
                <a:srgbClr val="14182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69096" y="4124738"/>
            <a:ext cx="54864" cy="62865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33687" y="4042613"/>
            <a:ext cx="2700497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3F46C4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6" y="4327401"/>
            <a:ext cx="3139410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14182A"/>
                </a:solidFill>
                <a:latin typeface="Calibri"/>
              </a:rPr>
              <a:t>PostgreSQL · </a:t>
            </a:r>
            <a:r>
              <a:rPr lang="he-IL" sz="1200" b="0" i="0" dirty="0">
                <a:solidFill>
                  <a:srgbClr val="14182A"/>
                </a:solidFill>
                <a:latin typeface="Calibri"/>
              </a:rPr>
              <a:t>22</a:t>
            </a:r>
            <a:r>
              <a:rPr sz="1400" b="0" i="0" dirty="0">
                <a:solidFill>
                  <a:srgbClr val="14182A"/>
                </a:solidFill>
                <a:latin typeface="Calibri"/>
              </a:rPr>
              <a:t>K-domain whitelist · JSON logs</a:t>
            </a:r>
            <a:r>
              <a:rPr lang="en-US" sz="1400" b="0" i="0" dirty="0">
                <a:solidFill>
                  <a:srgbClr val="14182A"/>
                </a:solidFill>
                <a:latin typeface="Calibri"/>
              </a:rPr>
              <a:t> and Gmail SMTP monitoring</a:t>
            </a:r>
            <a:endParaRPr sz="1400" b="0" i="0" dirty="0">
              <a:solidFill>
                <a:srgbClr val="14182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69096" y="5156560"/>
            <a:ext cx="54864" cy="62865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33688" y="5080009"/>
            <a:ext cx="2700497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3F46C4"/>
                </a:solidFill>
                <a:latin typeface="Calibri"/>
              </a:rPr>
              <a:t>AI / 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3688" y="5399617"/>
            <a:ext cx="2700497" cy="63709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14182A"/>
                </a:solidFill>
                <a:latin typeface="Calibri"/>
              </a:rPr>
              <a:t>Gemini 2.5 Flash </a:t>
            </a:r>
            <a:r>
              <a:rPr lang="en-US" sz="1400" dirty="0">
                <a:solidFill>
                  <a:srgbClr val="14182A"/>
                </a:solidFill>
                <a:latin typeface="Calibri"/>
              </a:rPr>
              <a:t>API </a:t>
            </a:r>
            <a:r>
              <a:rPr sz="1400" b="0" i="0" dirty="0">
                <a:solidFill>
                  <a:srgbClr val="14182A"/>
                </a:solidFill>
                <a:latin typeface="Calibri"/>
              </a:rPr>
              <a:t>· Meta Ad Library</a:t>
            </a:r>
            <a:r>
              <a:rPr lang="he-IL" sz="1400" b="0" i="0" dirty="0">
                <a:solidFill>
                  <a:srgbClr val="14182A"/>
                </a:solidFill>
                <a:latin typeface="Calibri"/>
              </a:rPr>
              <a:t> </a:t>
            </a:r>
          </a:p>
          <a:p>
            <a:pPr algn="l"/>
            <a:endParaRPr sz="1100" b="0" i="0" dirty="0">
              <a:solidFill>
                <a:srgbClr val="1418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519672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6B708F"/>
                </a:solidFill>
                <a:latin typeface="Calibri"/>
              </a:rPr>
              <a:t>Adora  ·  Software Entrepreneurship Workshop  ·  Project #15002932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 i="0">
                <a:solidFill>
                  <a:srgbClr val="1F2A56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815" y="997214"/>
            <a:ext cx="109728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 i="1">
                <a:solidFill>
                  <a:srgbClr val="6B708F"/>
                </a:solidFill>
                <a:latin typeface="Calibri"/>
              </a:rPr>
              <a:t>What we built, why it matters, what's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45438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3454389" cy="128016"/>
          </a:xfrm>
          <a:prstGeom prst="rect">
            <a:avLst/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08862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1F2A56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088629" cy="8063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14182A"/>
                </a:solidFill>
                <a:latin typeface="Calibri"/>
              </a:rPr>
              <a:t>Israeli shoppers like Dora face hundreds of Hebrew-styled </a:t>
            </a:r>
            <a:r>
              <a:rPr sz="1250" b="0" i="0" dirty="0" err="1">
                <a:solidFill>
                  <a:srgbClr val="14182A"/>
                </a:solidFill>
                <a:latin typeface="Calibri"/>
              </a:rPr>
              <a:t>dropshipping</a:t>
            </a:r>
            <a:r>
              <a:rPr sz="1250" b="0" i="0" dirty="0">
                <a:solidFill>
                  <a:srgbClr val="14182A"/>
                </a:solidFill>
                <a:latin typeface="Calibri"/>
              </a:rPr>
              <a:t> ads daily, with prices up to 11× the AliExpress source </a:t>
            </a:r>
            <a:r>
              <a:rPr lang="he-IL" sz="1250" b="0" i="0" dirty="0">
                <a:solidFill>
                  <a:srgbClr val="14182A"/>
                </a:solidFill>
                <a:latin typeface="Calibri"/>
              </a:rPr>
              <a:t>-</a:t>
            </a:r>
            <a:r>
              <a:rPr sz="1250" b="0" i="0" dirty="0">
                <a:solidFill>
                  <a:srgbClr val="14182A"/>
                </a:solidFill>
                <a:latin typeface="Calibri"/>
              </a:rPr>
              <a:t> and no warning before checkout.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789" y="1691640"/>
            <a:ext cx="345438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8789" y="1691640"/>
            <a:ext cx="3454389" cy="128016"/>
          </a:xfrm>
          <a:prstGeom prst="rect">
            <a:avLst/>
          </a:prstGeom>
          <a:solidFill>
            <a:srgbClr val="3F4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1669" y="1965960"/>
            <a:ext cx="308862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>
                <a:solidFill>
                  <a:srgbClr val="1F2A56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1669" y="2468880"/>
            <a:ext cx="3088629" cy="11887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14182A"/>
                </a:solidFill>
                <a:latin typeface="Calibri"/>
              </a:rPr>
              <a:t>A Chrome extension + AI backend that scores risk in real time and offers a cheaper alternative, on the page itself, in the moment of purchase.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8939" y="1691640"/>
            <a:ext cx="3454389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8939" y="1691640"/>
            <a:ext cx="3454389" cy="128016"/>
          </a:xfrm>
          <a:prstGeom prst="rect">
            <a:avLst/>
          </a:prstGeom>
          <a:solidFill>
            <a:srgbClr val="22A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1819" y="1965960"/>
            <a:ext cx="3088629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000" b="1" i="0" dirty="0">
                <a:solidFill>
                  <a:srgbClr val="1F2A56"/>
                </a:solidFill>
                <a:latin typeface="Calibri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819" y="2468880"/>
            <a:ext cx="3088629" cy="61401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50" b="0" i="0" dirty="0">
                <a:solidFill>
                  <a:srgbClr val="14182A"/>
                </a:solidFill>
                <a:latin typeface="Calibri"/>
              </a:rPr>
              <a:t>Live system on Oracle Cloud · </a:t>
            </a:r>
            <a:r>
              <a:rPr lang="en-US" sz="1250" b="0" i="0" dirty="0">
                <a:solidFill>
                  <a:srgbClr val="14182A"/>
                </a:solidFill>
                <a:latin typeface="Calibri"/>
              </a:rPr>
              <a:t> Real data - Hundreds of ads already detected, stored in our database</a:t>
            </a:r>
            <a:endParaRPr sz="1250" b="0" i="0" dirty="0">
              <a:solidFill>
                <a:srgbClr val="14182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1094689" cy="3139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sz="1800" b="1" i="0" dirty="0">
                <a:solidFill>
                  <a:srgbClr val="3F46C4"/>
                </a:solidFill>
                <a:latin typeface="Calibri"/>
              </a:rPr>
              <a:t>Community-powered protection</a:t>
            </a:r>
            <a:endParaRPr sz="1800" b="1" i="0" dirty="0">
              <a:solidFill>
                <a:srgbClr val="3F46C4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109468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i="1" dirty="0">
                <a:solidFill>
                  <a:srgbClr val="6B708F"/>
                </a:solidFill>
                <a:latin typeface="Calibri"/>
              </a:rPr>
              <a:t>From a tool that protects one user, to a network that gets smarter with every shopper.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00600"/>
            <a:ext cx="3454389" cy="1188720"/>
          </a:xfrm>
          <a:prstGeom prst="roundRect">
            <a:avLst>
              <a:gd name="adj" fmla="val 6000"/>
            </a:avLst>
          </a:prstGeom>
          <a:solidFill>
            <a:srgbClr val="F3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4965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1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946904"/>
            <a:ext cx="2539989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F2A56"/>
                </a:solidFill>
                <a:latin typeface="Calibri"/>
              </a:rPr>
              <a:t>Community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3088629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4182A"/>
                </a:solidFill>
                <a:latin typeface="Calibri"/>
              </a:rPr>
              <a:t>Users help expand the database by reporting suspicious stores and cheaper alternatives.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8789" y="4800600"/>
            <a:ext cx="3454389" cy="1188720"/>
          </a:xfrm>
          <a:prstGeom prst="roundRect">
            <a:avLst>
              <a:gd name="adj" fmla="val 6000"/>
            </a:avLst>
          </a:prstGeom>
          <a:solidFill>
            <a:srgbClr val="F3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551669" y="4965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1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6029" y="4946904"/>
            <a:ext cx="2539989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F2A56"/>
                </a:solidFill>
                <a:latin typeface="Calibri"/>
              </a:rPr>
              <a:t>Savings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1669" y="5349240"/>
            <a:ext cx="3088629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4182A"/>
                </a:solidFill>
                <a:latin typeface="Calibri"/>
              </a:rPr>
              <a:t>Adora estimates how much each user saved over time by choosing the cheaper alternative.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8939" y="4800600"/>
            <a:ext cx="3454389" cy="1188720"/>
          </a:xfrm>
          <a:prstGeom prst="roundRect">
            <a:avLst>
              <a:gd name="adj" fmla="val 6000"/>
            </a:avLst>
          </a:prstGeom>
          <a:solidFill>
            <a:srgbClr val="F3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71819" y="4965192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1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0" rIns="54864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6179" y="4946904"/>
            <a:ext cx="2539989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1F2A56"/>
                </a:solidFill>
                <a:latin typeface="Calibri"/>
              </a:rPr>
              <a:t>Feedback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1819" y="5349240"/>
            <a:ext cx="3088629" cy="37548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4182A"/>
                </a:solidFill>
                <a:latin typeface="Calibri"/>
              </a:rPr>
              <a:t>Users confirm whether warnings and cheaper links were helpful </a:t>
            </a:r>
            <a:r>
              <a:rPr lang="he-IL" sz="1100" b="0" i="0" dirty="0">
                <a:solidFill>
                  <a:srgbClr val="14182A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14182A"/>
                </a:solidFill>
                <a:latin typeface="Calibri"/>
              </a:rPr>
              <a:t> feeding the model.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172200"/>
            <a:ext cx="11094689" cy="320040"/>
          </a:xfrm>
          <a:prstGeom prst="roundRect">
            <a:avLst>
              <a:gd name="adj" fmla="val 50000"/>
            </a:avLst>
          </a:prstGeom>
          <a:solidFill>
            <a:srgbClr val="5B5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172200"/>
            <a:ext cx="11094689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F9242E9-3E2C-45B3-B405-A57619A7A4BF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b78cc62-2515-4b2e-8378-84c0cb9180e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2059</TotalTime>
  <Words>1726</Words>
  <Application>Microsoft Office PowerPoint</Application>
  <PresentationFormat>מסך רחב</PresentationFormat>
  <Paragraphs>147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GUY YS</dc:creator>
  <cp:keywords/>
  <dc:description>generated using python-pptx</dc:description>
  <cp:lastModifiedBy>Rani Maman</cp:lastModifiedBy>
  <cp:revision>31</cp:revision>
  <dcterms:created xsi:type="dcterms:W3CDTF">2013-01-27T09:14:16Z</dcterms:created>
  <dcterms:modified xsi:type="dcterms:W3CDTF">2026-05-09T08:48:20Z</dcterms:modified>
  <cp:category/>
</cp:coreProperties>
</file>